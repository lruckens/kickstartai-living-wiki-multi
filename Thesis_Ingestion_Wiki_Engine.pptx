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Laurenz. My individual part of the project is the knowledge pipeline: how raw project documents become a structured, self-maintaining wiki, and the operations the team runs on it. I'll cover the architecture, then ingestion in depth, then Query and Lint. ~5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problem: a KickstartAI project generates knowledge across many documents and people, and it's painful to keep current and to onboard into. Our idea is to have an LLM act as a wiki maintainer — you drop a source in and it compiles it into structured pages. The key conceptual move, which my evaluation tests, is compiling knowledge once into an artifact and reusing it, instead of re-feeding all the raw context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think of the system as three layers with a clean ownership split. You own two things. The sources — raw project documents you drop into /sources, which the system treats as immutable and never edits. And CLAUDE.md, the schema: it tells the LLM the operations, the page templates, the conventions, the config. In the middle is the LLM engine — Claude — which reads your sources, follows that schema, and runs the operations: ingest summarises, cross-references and detects gaps; query searches the index, synthesises and cites; lint checks contradictions, orphans and staleness. What it writes is the third piece — the wiki, which the LLM owns: it creates, updates and cross-references the pages, and you read, navigate and query them. The rule is clean: you own the sources and the schema, the LLM owns the wiki, and neither side overwrites the other's files. Under the hood it's a FastAPI backend, git-versioned, per-project, and permission-aware. I'll walk through ingestion, then query and lint.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artifact itself is a disciplined structure, not a free-form dump. A few control files run it: index.md is the catalog the system reads first; log.md is an append-only audit trail; _overview is the always-current summary; _gaps tracks open questions. Then one page per entity — decisions, people, concepts, meetings, deliverables. Pages cross-link with double-bracket slugs, and every page follows a template with required sections, so anything undocumented becomes a visible gap rather than silently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Ingest is the heart of my contribution. It runs in two phases. Phase one is analysis, streamed live to the user: the model classifies the document, pulls out key takeaways, flags anything that contradicts existing pages, and plans the edits. Phase two applies them — the model returns a JSON set of file changes, and we write them, always extending existing pages rather than overwriting, and updating the index, log, gaps and cross-references. Then we commit to git and log the exact token usage per source. The cost trick: the wiki plus the source is sent once as a cached block, so phase two re-reads it at about ten percent of the price. One source legitimately touches ten to fifteen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 deliberately does not dump the whole wiki into the model. First it reads the index — just the catalog of page titles. A cheap, fast model, Haiku, picks the handful of pages most relevant to the question, and only those load as context. The answer is composed from those pages and cites them with page links. The catalog is permission-filtered, so you only retrieve pages you're allowed to see. The point is scaling: as the wiki grows, the context for any one question stays bounded, and answers stay specific instead of drowning in irrelevant text.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wiki grows, so it needs maintenance — that's Lint, a periodic health check. It looks for contradictions between pages, content that's gone stale, orphan pages nobody links to, concepts mentioned everywhere but never given their own page, missing cross-references, decisions recorded without their rationale, gaps that could now be filled, and patterns worth reusing across projects. It's what keeps a living wiki coherent instead of decaying.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evaluation — the experiment at the core of my thesis. The hypothesis has two parts. H1, quality: answering from the compiled wiki gives more correct answers than feeding raw context, and it declines correctly when the sources can't answer a question. H2, cost and scale: the wiki answers with far fewer tokens, and that advantage grows as the document pile grows. To test it we hold everything constant — same answer model, same prompt — and vary only the context, across four conditions. C0 gets no context: the closed-book hallucination floor. C1 dumps in all the raw documents — the naive 'feed it everything' baseline. C1r retrieves the top few raw chunks — raw source plus retrieval. C2 retrieves the top few wiki pages — the compiled artifact. The key comparison is C1r versus C2: both retrieve, so the only difference is compiled wiki versus raw source — that isolates the wiki's value. C1 versus C1r shows what retrieval alone buys, and C0 is the floor. A separate model judges, with correctness as the primary metric and faithfulness as a diagnostic.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actually score it. The primary metric is correctness: each answer is compared to a human-written reference, so this is simply 'is it factually right.' Faithfulness is a diagnostic — whether the answer is grounded in the context it was given; an answer can be faithful to the wiki even if the wiki is wrong, so it's not the same as correct. Answer relevancy checks the answer addresses the question. Contextual recall — only meaningful for the retrieval conditions, C1r and C2 — checks whether retrieval pulled in what the answer needed. Abstention checks the model correctly declines on the unanswerable T3 questions. And tokens-fed is the cost metric behind H2. The question set is thirty questions across single-fact, synthesis, and unanswerable types. Crucially the judge is a different model from the one that answered, to avoid self-preference bias, and the reference answers were written from the sources before we ever saw the system's output — so correctness is a fair test.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only if asked. A 1-question pilot on the real setup: the UvA corpus, a source-grounded reference, and the deployed config — answers and retrieval on Sonnet (retrieval pinned to temperature 0), judged by Opus. It shows the harness runs end-to-end and every metric now computes, including faithfulness for the large-context C2 condition (an earlier judge-output truncation was fixed). I would not read any quality direction from a single question — the per-item scores bounce between runs because of LLM-judge noise (the judge can't be set to temperature 0) and the answer model isn't pinned either; that's exactly why the result is the 30-question average, not n=1. The one stable, meaningful number is cost: C2 feeds far fewer tokens than the full raw dump.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on retrieval, if asked how 'top-k relevant pages' actually works. It's deliberately simple — no vector database and no embeddings. Step one: build a catalog of every wiki page as just its path and title, filtered to what the reader is allowed to see. Step two: hand that catalog plus the question to a cheap model — Haiku — which returns a JSON list of up to eight page paths, most relevant first. Step three: validate those paths and load only those pages' full text. Step four: the answer is composed from those pages, and the paths double as the citations. Why this way: it's cheap and fast because routing runs on Haiku, not the answer model; context stays bounded so cost is flat as the wiki grows; there's no embedding infrastructure to maintain — it ranks the wiki's own catalog; and it's permission-aware because unauthorised pages never enter the catalog in the first place. The same mechanism powers the Query operation and the C1r and C2 conditions in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on deployment, if asked. To be upfront: today this runs locally — a development setup on a single machine. The backend is FastAPI served by Uvicorn on localhost, calling the Claude API with a key in a .env file; the frontend is a React and Vite dev server; and storage is just plain Markdown files under /sources and /wiki, version-controlled with git. There's no database, no container, and no hosted server. What's nice is that it's already git-native: because the wiki is just text files in a repo, you get full history and diffs for free, and GitHub Actions already automate parts of it — ingesting a pull request's content into the wiki and logging merges. So it's portable with no server state to migrate. Productionising it would mean containerising the backend, hosting the static frontend, putting the API key in a managed secret, and adding proper authentication — two-factor auth is noted as future work. But none of that is needed to demonstrate the engine, which is the focus of the thesis.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0D3F"/>
        </a:solidFill>
        <a:effectLst/>
      </p:bgPr>
    </p:bg>
    <p:spTree>
      <p:nvGrpSpPr>
        <p:cNvPr id="1" name=""/>
        <p:cNvGrpSpPr/>
        <p:nvPr/>
      </p:nvGrpSpPr>
      <p:grpSpPr/>
      <p:sp>
        <p:nvSpPr>
          <p:cNvPr id="2" name="Rectangle 1"/>
          <p:cNvSpPr/>
          <p:nvPr/>
        </p:nvSpPr>
        <p:spPr>
          <a:xfrm>
            <a:off x="-914400" y="4206240"/>
            <a:ext cx="14630400" cy="3108960"/>
          </a:xfrm>
          <a:prstGeom prst="rect">
            <a:avLst/>
          </a:prstGeom>
          <a:solidFill>
            <a:srgbClr val="3D14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874519"/>
            <a:ext cx="457200" cy="45720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1828800"/>
            <a:ext cx="10058400" cy="457200"/>
          </a:xfrm>
          <a:prstGeom prst="rect">
            <a:avLst/>
          </a:prstGeom>
          <a:noFill/>
        </p:spPr>
        <p:txBody>
          <a:bodyPr wrap="square" anchor="t">
            <a:spAutoFit/>
          </a:bodyPr>
          <a:lstStyle/>
          <a:p>
            <a:pPr algn="l">
              <a:lnSpc>
                <a:spcPct val="100000"/>
              </a:lnSpc>
              <a:spcBef>
                <a:spcPts val="0"/>
              </a:spcBef>
              <a:spcAft>
                <a:spcPts val="0"/>
              </a:spcAft>
            </a:pPr>
            <a:r>
              <a:rPr sz="1400" b="1" i="0">
                <a:solidFill>
                  <a:srgbClr val="F97015"/>
                </a:solidFill>
                <a:latin typeface="Arial"/>
              </a:rPr>
              <a:t>MASTER THESIS  ·  INDIVIDUAL CONTRIBUTION</a:t>
            </a:r>
          </a:p>
        </p:txBody>
      </p:sp>
      <p:sp>
        <p:nvSpPr>
          <p:cNvPr id="6" name="TextBox 5"/>
          <p:cNvSpPr txBox="1"/>
          <p:nvPr/>
        </p:nvSpPr>
        <p:spPr>
          <a:xfrm>
            <a:off x="822960" y="2395728"/>
            <a:ext cx="10972800" cy="1280160"/>
          </a:xfrm>
          <a:prstGeom prst="rect">
            <a:avLst/>
          </a:prstGeom>
          <a:noFill/>
        </p:spPr>
        <p:txBody>
          <a:bodyPr wrap="square" anchor="t">
            <a:spAutoFit/>
          </a:bodyPr>
          <a:lstStyle/>
          <a:p>
            <a:pPr algn="l">
              <a:lnSpc>
                <a:spcPct val="100000"/>
              </a:lnSpc>
              <a:spcBef>
                <a:spcPts val="0"/>
              </a:spcBef>
              <a:spcAft>
                <a:spcPts val="0"/>
              </a:spcAft>
            </a:pPr>
            <a:r>
              <a:rPr sz="5000" b="1" i="0">
                <a:solidFill>
                  <a:srgbClr val="FFFFFF"/>
                </a:solidFill>
                <a:latin typeface="Arial"/>
              </a:rPr>
              <a:t>The Knowledge Pipeline</a:t>
            </a:r>
          </a:p>
        </p:txBody>
      </p:sp>
      <p:sp>
        <p:nvSpPr>
          <p:cNvPr id="7" name="TextBox 6"/>
          <p:cNvSpPr txBox="1"/>
          <p:nvPr/>
        </p:nvSpPr>
        <p:spPr>
          <a:xfrm>
            <a:off x="841248" y="3584448"/>
            <a:ext cx="10972800" cy="640080"/>
          </a:xfrm>
          <a:prstGeom prst="rect">
            <a:avLst/>
          </a:prstGeom>
          <a:noFill/>
        </p:spPr>
        <p:txBody>
          <a:bodyPr wrap="square" anchor="t">
            <a:spAutoFit/>
          </a:bodyPr>
          <a:lstStyle/>
          <a:p>
            <a:pPr algn="l">
              <a:lnSpc>
                <a:spcPct val="100000"/>
              </a:lnSpc>
              <a:spcBef>
                <a:spcPts val="0"/>
              </a:spcBef>
              <a:spcAft>
                <a:spcPts val="0"/>
              </a:spcAft>
            </a:pPr>
            <a:r>
              <a:rPr sz="2400" b="1" i="0">
                <a:solidFill>
                  <a:srgbClr val="327DF5"/>
                </a:solidFill>
                <a:latin typeface="Arial"/>
              </a:rPr>
              <a:t>Ingestion &amp; the Self-Maintaining Wiki Engine</a:t>
            </a:r>
          </a:p>
        </p:txBody>
      </p:sp>
      <p:sp>
        <p:nvSpPr>
          <p:cNvPr id="8" name="TextBox 7"/>
          <p:cNvSpPr txBox="1"/>
          <p:nvPr/>
        </p:nvSpPr>
        <p:spPr>
          <a:xfrm>
            <a:off x="841248" y="4892040"/>
            <a:ext cx="10972800" cy="457200"/>
          </a:xfrm>
          <a:prstGeom prst="rect">
            <a:avLst/>
          </a:prstGeom>
          <a:noFill/>
        </p:spPr>
        <p:txBody>
          <a:bodyPr wrap="square" anchor="t">
            <a:spAutoFit/>
          </a:bodyPr>
          <a:lstStyle/>
          <a:p>
            <a:pPr algn="l">
              <a:lnSpc>
                <a:spcPct val="100000"/>
              </a:lnSpc>
              <a:spcBef>
                <a:spcPts val="0"/>
              </a:spcBef>
              <a:spcAft>
                <a:spcPts val="200"/>
              </a:spcAft>
            </a:pPr>
            <a:r>
              <a:rPr sz="1400" b="0" i="0">
                <a:solidFill>
                  <a:srgbClr val="D8CCE8"/>
                </a:solidFill>
                <a:latin typeface="Arial"/>
              </a:rPr>
              <a:t>KickstartAI  ×  UvA AI4Business Lab  —  Living Project Wiki</a:t>
            </a:r>
          </a:p>
        </p:txBody>
      </p:sp>
      <p:sp>
        <p:nvSpPr>
          <p:cNvPr id="9" name="TextBox 8"/>
          <p:cNvSpPr txBox="1"/>
          <p:nvPr/>
        </p:nvSpPr>
        <p:spPr>
          <a:xfrm>
            <a:off x="841248" y="5285232"/>
            <a:ext cx="10972800" cy="457200"/>
          </a:xfrm>
          <a:prstGeom prst="rect">
            <a:avLst/>
          </a:prstGeom>
          <a:noFill/>
        </p:spPr>
        <p:txBody>
          <a:bodyPr wrap="square" anchor="t">
            <a:spAutoFit/>
          </a:bodyPr>
          <a:lstStyle/>
          <a:p>
            <a:pPr algn="l">
              <a:lnSpc>
                <a:spcPct val="100000"/>
              </a:lnSpc>
              <a:spcBef>
                <a:spcPts val="0"/>
              </a:spcBef>
              <a:spcAft>
                <a:spcPts val="0"/>
              </a:spcAft>
            </a:pPr>
            <a:r>
              <a:rPr sz="1500" b="1" i="0">
                <a:solidFill>
                  <a:srgbClr val="FFFFFF"/>
                </a:solidFill>
                <a:latin typeface="Arial"/>
              </a:rPr>
              <a:t>Laurenz Ruckensteiner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THE PROBLEM &amp; THE IDEA</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From scattered docs to a living wiki</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6766560" cy="4572000"/>
          </a:xfrm>
          <a:prstGeom prst="rect">
            <a:avLst/>
          </a:prstGeom>
          <a:noFill/>
        </p:spPr>
        <p:txBody>
          <a:bodyPr wrap="square">
            <a:spAutoFit/>
          </a:bodyPr>
          <a:lstStyle/>
          <a:p>
            <a:pPr>
              <a:lnSpc>
                <a:spcPct val="105000"/>
              </a:lnSpc>
              <a:spcBef>
                <a:spcPts val="0"/>
              </a:spcBef>
              <a:spcAft>
                <a:spcPts val="1600"/>
              </a:spcAft>
            </a:pPr>
            <a:r>
              <a:rPr sz="1600" b="1">
                <a:solidFill>
                  <a:srgbClr val="F97015"/>
                </a:solidFill>
                <a:latin typeface="Arial"/>
              </a:rPr>
              <a:t>—  </a:t>
            </a:r>
            <a:r>
              <a:rPr sz="1600" b="1">
                <a:solidFill>
                  <a:srgbClr val="20142A"/>
                </a:solidFill>
                <a:latin typeface="Arial"/>
              </a:rPr>
              <a:t>Project knowledge is scattered.</a:t>
            </a:r>
            <a:r>
              <a:rPr sz="1600" b="0">
                <a:solidFill>
                  <a:srgbClr val="6B5E78"/>
                </a:solidFill>
                <a:latin typeface="Arial"/>
              </a:rPr>
              <a:t>  Meeting notes, emails, slides, decisions — hard to onboard into, easy to lose.</a:t>
            </a:r>
          </a:p>
          <a:p>
            <a:pPr>
              <a:lnSpc>
                <a:spcPct val="105000"/>
              </a:lnSpc>
              <a:spcBef>
                <a:spcPts val="0"/>
              </a:spcBef>
              <a:spcAft>
                <a:spcPts val="1600"/>
              </a:spcAft>
            </a:pPr>
            <a:r>
              <a:rPr sz="1600" b="1">
                <a:solidFill>
                  <a:srgbClr val="F97015"/>
                </a:solidFill>
                <a:latin typeface="Arial"/>
              </a:rPr>
              <a:t>—  </a:t>
            </a:r>
            <a:r>
              <a:rPr sz="1600" b="1">
                <a:solidFill>
                  <a:srgbClr val="20142A"/>
                </a:solidFill>
                <a:latin typeface="Arial"/>
              </a:rPr>
              <a:t>Idea: let an LLM maintain a living wiki.</a:t>
            </a:r>
            <a:r>
              <a:rPr sz="1600" b="0">
                <a:solidFill>
                  <a:srgbClr val="6B5E78"/>
                </a:solidFill>
                <a:latin typeface="Arial"/>
              </a:rPr>
              <a:t>  Drop a source in → it is compiled into structured, cross-linked pages.</a:t>
            </a:r>
          </a:p>
          <a:p>
            <a:pPr>
              <a:lnSpc>
                <a:spcPct val="105000"/>
              </a:lnSpc>
              <a:spcBef>
                <a:spcPts val="0"/>
              </a:spcBef>
              <a:spcAft>
                <a:spcPts val="1600"/>
              </a:spcAft>
            </a:pPr>
            <a:r>
              <a:rPr sz="1600" b="1">
                <a:solidFill>
                  <a:srgbClr val="F97015"/>
                </a:solidFill>
                <a:latin typeface="Arial"/>
              </a:rPr>
              <a:t>—  </a:t>
            </a:r>
            <a:r>
              <a:rPr sz="1600" b="1">
                <a:solidFill>
                  <a:srgbClr val="20142A"/>
                </a:solidFill>
                <a:latin typeface="Arial"/>
              </a:rPr>
              <a:t>Compile once, reuse the artifact.</a:t>
            </a:r>
            <a:r>
              <a:rPr sz="1600" b="0">
                <a:solidFill>
                  <a:srgbClr val="6B5E78"/>
                </a:solidFill>
                <a:latin typeface="Arial"/>
              </a:rPr>
              <a:t>  The team reads the wiki — not the pile of raw documents — on every question.</a:t>
            </a:r>
          </a:p>
        </p:txBody>
      </p:sp>
      <p:sp>
        <p:nvSpPr>
          <p:cNvPr id="7" name="Rounded Rectangle 6"/>
          <p:cNvSpPr/>
          <p:nvPr/>
        </p:nvSpPr>
        <p:spPr>
          <a:xfrm>
            <a:off x="7772400" y="2286000"/>
            <a:ext cx="3840480" cy="301752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0" y="2286000"/>
            <a:ext cx="109728" cy="301752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514600"/>
            <a:ext cx="3383280" cy="2743200"/>
          </a:xfrm>
          <a:prstGeom prst="rect">
            <a:avLst/>
          </a:prstGeom>
          <a:noFill/>
        </p:spPr>
        <p:txBody>
          <a:bodyPr wrap="square" anchor="t">
            <a:spAutoFit/>
          </a:bodyPr>
          <a:lstStyle/>
          <a:p>
            <a:pPr algn="l">
              <a:lnSpc>
                <a:spcPct val="100000"/>
              </a:lnSpc>
              <a:spcBef>
                <a:spcPts val="0"/>
              </a:spcBef>
              <a:spcAft>
                <a:spcPts val="600"/>
              </a:spcAft>
            </a:pPr>
            <a:r>
              <a:rPr sz="1300" b="1" i="0">
                <a:solidFill>
                  <a:srgbClr val="F97015"/>
                </a:solidFill>
                <a:latin typeface="Arial"/>
              </a:rPr>
              <a:t>The shift</a:t>
            </a:r>
          </a:p>
          <a:p>
            <a:pPr algn="l">
              <a:lnSpc>
                <a:spcPct val="100000"/>
              </a:lnSpc>
              <a:spcBef>
                <a:spcPts val="0"/>
              </a:spcBef>
              <a:spcAft>
                <a:spcPts val="600"/>
              </a:spcAft>
            </a:pPr>
            <a:r>
              <a:rPr sz="1500" b="1" i="0">
                <a:solidFill>
                  <a:srgbClr val="20142A"/>
                </a:solidFill>
                <a:latin typeface="Arial"/>
              </a:rPr>
              <a:t>Raw context</a:t>
            </a:r>
            <a:r>
              <a:rPr sz="1400" b="0" i="0">
                <a:solidFill>
                  <a:srgbClr val="6B5E78"/>
                </a:solidFill>
                <a:latin typeface="Arial"/>
              </a:rPr>
              <a:t>  →  fed in full,</a:t>
            </a:r>
          </a:p>
          <a:p>
            <a:pPr algn="l">
              <a:lnSpc>
                <a:spcPct val="100000"/>
              </a:lnSpc>
              <a:spcBef>
                <a:spcPts val="0"/>
              </a:spcBef>
              <a:spcAft>
                <a:spcPts val="600"/>
              </a:spcAft>
            </a:pPr>
            <a:r>
              <a:rPr sz="1400" b="0" i="0">
                <a:solidFill>
                  <a:srgbClr val="6B5E78"/>
                </a:solidFill>
                <a:latin typeface="Arial"/>
              </a:rPr>
              <a:t>every question, forever.</a:t>
            </a:r>
          </a:p>
          <a:p>
            <a:pPr algn="l">
              <a:lnSpc>
                <a:spcPct val="100000"/>
              </a:lnSpc>
              <a:spcBef>
                <a:spcPts val="0"/>
              </a:spcBef>
              <a:spcAft>
                <a:spcPts val="600"/>
              </a:spcAft>
            </a:pPr>
            <a:r>
              <a:rPr sz="600" b="0" i="0">
                <a:solidFill>
                  <a:srgbClr val="6B5E78"/>
                </a:solidFill>
                <a:latin typeface="Arial"/>
              </a:rPr>
              <a:t/>
            </a:r>
          </a:p>
          <a:p>
            <a:pPr algn="l">
              <a:lnSpc>
                <a:spcPct val="100000"/>
              </a:lnSpc>
              <a:spcBef>
                <a:spcPts val="0"/>
              </a:spcBef>
              <a:spcAft>
                <a:spcPts val="600"/>
              </a:spcAft>
            </a:pPr>
            <a:r>
              <a:rPr sz="1500" b="1" i="0">
                <a:solidFill>
                  <a:srgbClr val="67269C"/>
                </a:solidFill>
                <a:latin typeface="Arial"/>
              </a:rPr>
              <a:t>Compiled wiki</a:t>
            </a:r>
            <a:r>
              <a:rPr sz="1400" b="0" i="0">
                <a:solidFill>
                  <a:srgbClr val="6B5E78"/>
                </a:solidFill>
                <a:latin typeface="Arial"/>
              </a:rPr>
              <a:t>  →  built once,</a:t>
            </a:r>
          </a:p>
          <a:p>
            <a:pPr algn="l">
              <a:lnSpc>
                <a:spcPct val="100000"/>
              </a:lnSpc>
              <a:spcBef>
                <a:spcPts val="0"/>
              </a:spcBef>
              <a:spcAft>
                <a:spcPts val="600"/>
              </a:spcAft>
            </a:pPr>
            <a:r>
              <a:rPr sz="1400" b="0" i="0">
                <a:solidFill>
                  <a:srgbClr val="6B5E78"/>
                </a:solidFill>
                <a:latin typeface="Arial"/>
              </a:rPr>
              <a:t>retrieved cheaply, reused.</a:t>
            </a:r>
          </a:p>
        </p:txBody>
      </p:sp>
      <p:sp>
        <p:nvSpPr>
          <p:cNvPr id="10" name="TextBox 9"/>
          <p:cNvSpPr txBox="1"/>
          <p:nvPr/>
        </p:nvSpPr>
        <p:spPr>
          <a:xfrm>
            <a:off x="548640" y="6419088"/>
            <a:ext cx="7315200" cy="365760"/>
          </a:xfrm>
          <a:prstGeom prst="rect">
            <a:avLst/>
          </a:prstGeom>
          <a:noFill/>
        </p:spPr>
        <p:txBody>
          <a:bodyPr wrap="square" anchor="t">
            <a:spAutoFit/>
          </a:bodyPr>
          <a:lstStyle/>
          <a:p>
            <a:pPr algn="l">
              <a:lnSpc>
                <a:spcPct val="100000"/>
              </a:lnSpc>
              <a:spcBef>
                <a:spcPts val="0"/>
              </a:spcBef>
              <a:spcAft>
                <a:spcPts val="0"/>
              </a:spcAft>
            </a:pPr>
            <a:r>
              <a:rPr sz="950" b="0" i="0">
                <a:solidFill>
                  <a:srgbClr val="6B5E78"/>
                </a:solidFill>
                <a:latin typeface="Arial"/>
              </a:rPr>
              <a:t>KickstartAI  ·  Living Project Wiki</a:t>
            </a:r>
          </a:p>
        </p:txBody>
      </p:sp>
      <p:sp>
        <p:nvSpPr>
          <p:cNvPr id="11" name="TextBox 10"/>
          <p:cNvSpPr txBox="1"/>
          <p:nvPr/>
        </p:nvSpPr>
        <p:spPr>
          <a:xfrm>
            <a:off x="10424160" y="6419088"/>
            <a:ext cx="1280160" cy="365760"/>
          </a:xfrm>
          <a:prstGeom prst="rect">
            <a:avLst/>
          </a:prstGeom>
          <a:noFill/>
        </p:spPr>
        <p:txBody>
          <a:bodyPr wrap="square" anchor="t">
            <a:spAutoFit/>
          </a:bodyPr>
          <a:lstStyle/>
          <a:p>
            <a:pPr algn="r">
              <a:lnSpc>
                <a:spcPct val="100000"/>
              </a:lnSpc>
              <a:spcBef>
                <a:spcPts val="0"/>
              </a:spcBef>
              <a:spcAft>
                <a:spcPts val="0"/>
              </a:spcAft>
            </a:pPr>
            <a:r>
              <a:rPr sz="950" b="1" i="0">
                <a:solidFill>
                  <a:srgbClr val="67269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SYSTEM OVERVIEW</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Architecture — layers &amp; ownership</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72768"/>
            <a:ext cx="11091672" cy="1225296"/>
          </a:xfrm>
          <a:prstGeom prst="roundRect">
            <a:avLst/>
          </a:prstGeom>
          <a:solidFill>
            <a:srgbClr val="EC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72768"/>
            <a:ext cx="109728" cy="1225296"/>
          </a:xfrm>
          <a:prstGeom prst="rect">
            <a:avLst/>
          </a:prstGeom>
          <a:solidFill>
            <a:srgbClr val="327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600200"/>
            <a:ext cx="5486400" cy="274320"/>
          </a:xfrm>
          <a:prstGeom prst="rect">
            <a:avLst/>
          </a:prstGeom>
          <a:noFill/>
        </p:spPr>
        <p:txBody>
          <a:bodyPr wrap="square" anchor="t">
            <a:spAutoFit/>
          </a:bodyPr>
          <a:lstStyle/>
          <a:p>
            <a:pPr algn="l">
              <a:lnSpc>
                <a:spcPct val="100000"/>
              </a:lnSpc>
              <a:spcBef>
                <a:spcPts val="0"/>
              </a:spcBef>
              <a:spcAft>
                <a:spcPts val="0"/>
              </a:spcAft>
            </a:pPr>
            <a:r>
              <a:rPr sz="1100" b="1" i="0">
                <a:solidFill>
                  <a:srgbClr val="327DF5"/>
                </a:solidFill>
                <a:latin typeface="Arial"/>
              </a:rPr>
              <a:t>YOU OWN  —  the inputs</a:t>
            </a:r>
          </a:p>
        </p:txBody>
      </p:sp>
      <p:sp>
        <p:nvSpPr>
          <p:cNvPr id="9" name="Rounded Rectangle 8"/>
          <p:cNvSpPr/>
          <p:nvPr/>
        </p:nvSpPr>
        <p:spPr>
          <a:xfrm>
            <a:off x="859536" y="1883664"/>
            <a:ext cx="5120640" cy="841248"/>
          </a:xfrm>
          <a:prstGeom prst="roundRect">
            <a:avLst/>
          </a:prstGeom>
          <a:solidFill>
            <a:srgbClr val="FFFFFF"/>
          </a:solidFill>
          <a:ln w="12700">
            <a:solidFill>
              <a:srgbClr val="D8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1938528"/>
            <a:ext cx="4800600" cy="749808"/>
          </a:xfrm>
          <a:prstGeom prst="rect">
            <a:avLst/>
          </a:prstGeom>
          <a:noFill/>
        </p:spPr>
        <p:txBody>
          <a:bodyPr wrap="square" anchor="t">
            <a:spAutoFit/>
          </a:bodyPr>
          <a:lstStyle/>
          <a:p>
            <a:pPr algn="l">
              <a:lnSpc>
                <a:spcPct val="100000"/>
              </a:lnSpc>
              <a:spcBef>
                <a:spcPts val="0"/>
              </a:spcBef>
              <a:spcAft>
                <a:spcPts val="200"/>
              </a:spcAft>
            </a:pPr>
            <a:r>
              <a:rPr sz="1050" b="1" i="0">
                <a:solidFill>
                  <a:srgbClr val="67269C"/>
                </a:solidFill>
                <a:latin typeface="Arial"/>
              </a:rPr>
              <a:t>LAYER 1 · SOURCES</a:t>
            </a:r>
          </a:p>
          <a:p>
            <a:pPr algn="l">
              <a:lnSpc>
                <a:spcPct val="100000"/>
              </a:lnSpc>
              <a:spcBef>
                <a:spcPts val="0"/>
              </a:spcBef>
              <a:spcAft>
                <a:spcPts val="200"/>
              </a:spcAft>
            </a:pPr>
            <a:r>
              <a:rPr sz="1100" b="0" i="0">
                <a:solidFill>
                  <a:srgbClr val="20142A"/>
                </a:solidFill>
                <a:latin typeface="Arial"/>
              </a:rPr>
              <a:t>/sources/ — PDFs · Markdown · notes · PRs · data</a:t>
            </a:r>
          </a:p>
          <a:p>
            <a:pPr algn="l">
              <a:lnSpc>
                <a:spcPct val="100000"/>
              </a:lnSpc>
              <a:spcBef>
                <a:spcPts val="0"/>
              </a:spcBef>
              <a:spcAft>
                <a:spcPts val="200"/>
              </a:spcAft>
            </a:pPr>
            <a:r>
              <a:rPr sz="950" b="0" i="0">
                <a:solidFill>
                  <a:srgbClr val="6B5E78"/>
                </a:solidFill>
                <a:latin typeface="Arial"/>
              </a:rPr>
              <a:t>Immutable · you drop files in · the LLM never edits them</a:t>
            </a:r>
          </a:p>
        </p:txBody>
      </p:sp>
      <p:sp>
        <p:nvSpPr>
          <p:cNvPr id="11" name="Rounded Rectangle 10"/>
          <p:cNvSpPr/>
          <p:nvPr/>
        </p:nvSpPr>
        <p:spPr>
          <a:xfrm>
            <a:off x="6208776" y="1883664"/>
            <a:ext cx="5157216" cy="841248"/>
          </a:xfrm>
          <a:prstGeom prst="roundRect">
            <a:avLst/>
          </a:prstGeom>
          <a:solidFill>
            <a:srgbClr val="FFFFFF"/>
          </a:solidFill>
          <a:ln w="12700">
            <a:solidFill>
              <a:srgbClr val="D8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1938528"/>
            <a:ext cx="4846320" cy="749808"/>
          </a:xfrm>
          <a:prstGeom prst="rect">
            <a:avLst/>
          </a:prstGeom>
          <a:noFill/>
        </p:spPr>
        <p:txBody>
          <a:bodyPr wrap="square" anchor="t">
            <a:spAutoFit/>
          </a:bodyPr>
          <a:lstStyle/>
          <a:p>
            <a:pPr algn="l">
              <a:lnSpc>
                <a:spcPct val="100000"/>
              </a:lnSpc>
              <a:spcBef>
                <a:spcPts val="0"/>
              </a:spcBef>
              <a:spcAft>
                <a:spcPts val="200"/>
              </a:spcAft>
            </a:pPr>
            <a:r>
              <a:rPr sz="1050" b="1" i="0">
                <a:solidFill>
                  <a:srgbClr val="F97015"/>
                </a:solidFill>
                <a:latin typeface="Arial"/>
              </a:rPr>
              <a:t>LAYER 3 · SCHEMA</a:t>
            </a:r>
          </a:p>
          <a:p>
            <a:pPr algn="l">
              <a:lnSpc>
                <a:spcPct val="100000"/>
              </a:lnSpc>
              <a:spcBef>
                <a:spcPts val="0"/>
              </a:spcBef>
              <a:spcAft>
                <a:spcPts val="200"/>
              </a:spcAft>
            </a:pPr>
            <a:r>
              <a:rPr sz="1100" b="0" i="0">
                <a:solidFill>
                  <a:srgbClr val="20142A"/>
                </a:solidFill>
                <a:latin typeface="Arial"/>
              </a:rPr>
              <a:t>CLAUDE.md — operations · templates · conventions</a:t>
            </a:r>
          </a:p>
          <a:p>
            <a:pPr algn="l">
              <a:lnSpc>
                <a:spcPct val="100000"/>
              </a:lnSpc>
              <a:spcBef>
                <a:spcPts val="0"/>
              </a:spcBef>
              <a:spcAft>
                <a:spcPts val="200"/>
              </a:spcAft>
            </a:pPr>
            <a:r>
              <a:rPr sz="950" b="0" i="0">
                <a:solidFill>
                  <a:srgbClr val="6B5E78"/>
                </a:solidFill>
                <a:latin typeface="Arial"/>
              </a:rPr>
              <a:t>The spec the LLM follows · co-evolved by you + the LLM</a:t>
            </a:r>
          </a:p>
        </p:txBody>
      </p:sp>
      <p:sp>
        <p:nvSpPr>
          <p:cNvPr id="13" name="Down Arrow 12"/>
          <p:cNvSpPr/>
          <p:nvPr/>
        </p:nvSpPr>
        <p:spPr>
          <a:xfrm>
            <a:off x="5715000" y="2852928"/>
            <a:ext cx="384048" cy="292608"/>
          </a:xfrm>
          <a:prstGeom prst="downArrow">
            <a:avLst/>
          </a:prstGeom>
          <a:solidFill>
            <a:srgbClr val="327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852928"/>
            <a:ext cx="5486400" cy="292608"/>
          </a:xfrm>
          <a:prstGeom prst="rect">
            <a:avLst/>
          </a:prstGeom>
          <a:noFill/>
        </p:spPr>
        <p:txBody>
          <a:bodyPr wrap="square" anchor="ctr">
            <a:spAutoFit/>
          </a:bodyPr>
          <a:lstStyle/>
          <a:p>
            <a:pPr algn="l">
              <a:lnSpc>
                <a:spcPct val="100000"/>
              </a:lnSpc>
              <a:spcBef>
                <a:spcPts val="0"/>
              </a:spcBef>
              <a:spcAft>
                <a:spcPts val="0"/>
              </a:spcAft>
            </a:pPr>
            <a:r>
              <a:rPr sz="1100" b="0" i="0">
                <a:solidFill>
                  <a:srgbClr val="6B5E78"/>
                </a:solidFill>
                <a:latin typeface="Arial"/>
              </a:rPr>
              <a:t>reads sources  ·  governed by schema</a:t>
            </a:r>
          </a:p>
        </p:txBody>
      </p:sp>
      <p:sp>
        <p:nvSpPr>
          <p:cNvPr id="15" name="Rounded Rectangle 14"/>
          <p:cNvSpPr/>
          <p:nvPr/>
        </p:nvSpPr>
        <p:spPr>
          <a:xfrm>
            <a:off x="548640" y="3200400"/>
            <a:ext cx="11091672" cy="1188720"/>
          </a:xfrm>
          <a:prstGeom prst="roundRect">
            <a:avLst/>
          </a:prstGeom>
          <a:solidFill>
            <a:srgbClr val="290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255264"/>
            <a:ext cx="7315200" cy="27432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LLM ENGINE  ·  Claude</a:t>
            </a:r>
          </a:p>
        </p:txBody>
      </p:sp>
      <p:sp>
        <p:nvSpPr>
          <p:cNvPr id="17" name="TextBox 16"/>
          <p:cNvSpPr txBox="1"/>
          <p:nvPr/>
        </p:nvSpPr>
        <p:spPr>
          <a:xfrm>
            <a:off x="1051560" y="3584448"/>
            <a:ext cx="1371600" cy="256032"/>
          </a:xfrm>
          <a:prstGeom prst="rect">
            <a:avLst/>
          </a:prstGeom>
          <a:noFill/>
        </p:spPr>
        <p:txBody>
          <a:bodyPr wrap="square" anchor="ctr">
            <a:spAutoFit/>
          </a:bodyPr>
          <a:lstStyle/>
          <a:p>
            <a:pPr algn="l">
              <a:lnSpc>
                <a:spcPct val="100000"/>
              </a:lnSpc>
              <a:spcBef>
                <a:spcPts val="0"/>
              </a:spcBef>
              <a:spcAft>
                <a:spcPts val="0"/>
              </a:spcAft>
            </a:pPr>
            <a:r>
              <a:rPr sz="1150" b="1" i="0">
                <a:solidFill>
                  <a:srgbClr val="F97015"/>
                </a:solidFill>
                <a:latin typeface="Arial"/>
              </a:rPr>
              <a:t>ingest</a:t>
            </a:r>
          </a:p>
        </p:txBody>
      </p:sp>
      <p:sp>
        <p:nvSpPr>
          <p:cNvPr id="18" name="TextBox 17"/>
          <p:cNvSpPr txBox="1"/>
          <p:nvPr/>
        </p:nvSpPr>
        <p:spPr>
          <a:xfrm>
            <a:off x="2286000" y="3584448"/>
            <a:ext cx="9144000" cy="256032"/>
          </a:xfrm>
          <a:prstGeom prst="rect">
            <a:avLst/>
          </a:prstGeom>
          <a:noFill/>
        </p:spPr>
        <p:txBody>
          <a:bodyPr wrap="square" anchor="ctr">
            <a:spAutoFit/>
          </a:bodyPr>
          <a:lstStyle/>
          <a:p>
            <a:pPr algn="l">
              <a:lnSpc>
                <a:spcPct val="100000"/>
              </a:lnSpc>
              <a:spcBef>
                <a:spcPts val="0"/>
              </a:spcBef>
              <a:spcAft>
                <a:spcPts val="0"/>
              </a:spcAft>
            </a:pPr>
            <a:r>
              <a:rPr sz="1150" b="0" i="0">
                <a:solidFill>
                  <a:srgbClr val="FFFFFF"/>
                </a:solidFill>
                <a:latin typeface="Arial"/>
              </a:rPr>
              <a:t>→   summarise · cross-reference · detect gaps</a:t>
            </a:r>
          </a:p>
        </p:txBody>
      </p:sp>
      <p:sp>
        <p:nvSpPr>
          <p:cNvPr id="19" name="TextBox 18"/>
          <p:cNvSpPr txBox="1"/>
          <p:nvPr/>
        </p:nvSpPr>
        <p:spPr>
          <a:xfrm>
            <a:off x="1051560" y="3840480"/>
            <a:ext cx="1371600" cy="256032"/>
          </a:xfrm>
          <a:prstGeom prst="rect">
            <a:avLst/>
          </a:prstGeom>
          <a:noFill/>
        </p:spPr>
        <p:txBody>
          <a:bodyPr wrap="square" anchor="ctr">
            <a:spAutoFit/>
          </a:bodyPr>
          <a:lstStyle/>
          <a:p>
            <a:pPr algn="l">
              <a:lnSpc>
                <a:spcPct val="100000"/>
              </a:lnSpc>
              <a:spcBef>
                <a:spcPts val="0"/>
              </a:spcBef>
              <a:spcAft>
                <a:spcPts val="0"/>
              </a:spcAft>
            </a:pPr>
            <a:r>
              <a:rPr sz="1150" b="1" i="0">
                <a:solidFill>
                  <a:srgbClr val="F97015"/>
                </a:solidFill>
                <a:latin typeface="Arial"/>
              </a:rPr>
              <a:t>query</a:t>
            </a:r>
          </a:p>
        </p:txBody>
      </p:sp>
      <p:sp>
        <p:nvSpPr>
          <p:cNvPr id="20" name="TextBox 19"/>
          <p:cNvSpPr txBox="1"/>
          <p:nvPr/>
        </p:nvSpPr>
        <p:spPr>
          <a:xfrm>
            <a:off x="2286000" y="3840480"/>
            <a:ext cx="9144000" cy="256032"/>
          </a:xfrm>
          <a:prstGeom prst="rect">
            <a:avLst/>
          </a:prstGeom>
          <a:noFill/>
        </p:spPr>
        <p:txBody>
          <a:bodyPr wrap="square" anchor="ctr">
            <a:spAutoFit/>
          </a:bodyPr>
          <a:lstStyle/>
          <a:p>
            <a:pPr algn="l">
              <a:lnSpc>
                <a:spcPct val="100000"/>
              </a:lnSpc>
              <a:spcBef>
                <a:spcPts val="0"/>
              </a:spcBef>
              <a:spcAft>
                <a:spcPts val="0"/>
              </a:spcAft>
            </a:pPr>
            <a:r>
              <a:rPr sz="1150" b="0" i="0">
                <a:solidFill>
                  <a:srgbClr val="FFFFFF"/>
                </a:solidFill>
                <a:latin typeface="Arial"/>
              </a:rPr>
              <a:t>→   search index · synthesise · cite · offer to file</a:t>
            </a:r>
          </a:p>
        </p:txBody>
      </p:sp>
      <p:sp>
        <p:nvSpPr>
          <p:cNvPr id="21" name="TextBox 20"/>
          <p:cNvSpPr txBox="1"/>
          <p:nvPr/>
        </p:nvSpPr>
        <p:spPr>
          <a:xfrm>
            <a:off x="1051560" y="4096512"/>
            <a:ext cx="1371600" cy="256032"/>
          </a:xfrm>
          <a:prstGeom prst="rect">
            <a:avLst/>
          </a:prstGeom>
          <a:noFill/>
        </p:spPr>
        <p:txBody>
          <a:bodyPr wrap="square" anchor="ctr">
            <a:spAutoFit/>
          </a:bodyPr>
          <a:lstStyle/>
          <a:p>
            <a:pPr algn="l">
              <a:lnSpc>
                <a:spcPct val="100000"/>
              </a:lnSpc>
              <a:spcBef>
                <a:spcPts val="0"/>
              </a:spcBef>
              <a:spcAft>
                <a:spcPts val="0"/>
              </a:spcAft>
            </a:pPr>
            <a:r>
              <a:rPr sz="1150" b="1" i="0">
                <a:solidFill>
                  <a:srgbClr val="F97015"/>
                </a:solidFill>
                <a:latin typeface="Arial"/>
              </a:rPr>
              <a:t>lint</a:t>
            </a:r>
          </a:p>
        </p:txBody>
      </p:sp>
      <p:sp>
        <p:nvSpPr>
          <p:cNvPr id="22" name="TextBox 21"/>
          <p:cNvSpPr txBox="1"/>
          <p:nvPr/>
        </p:nvSpPr>
        <p:spPr>
          <a:xfrm>
            <a:off x="2286000" y="4096512"/>
            <a:ext cx="9144000" cy="256032"/>
          </a:xfrm>
          <a:prstGeom prst="rect">
            <a:avLst/>
          </a:prstGeom>
          <a:noFill/>
        </p:spPr>
        <p:txBody>
          <a:bodyPr wrap="square" anchor="ctr">
            <a:spAutoFit/>
          </a:bodyPr>
          <a:lstStyle/>
          <a:p>
            <a:pPr algn="l">
              <a:lnSpc>
                <a:spcPct val="100000"/>
              </a:lnSpc>
              <a:spcBef>
                <a:spcPts val="0"/>
              </a:spcBef>
              <a:spcAft>
                <a:spcPts val="0"/>
              </a:spcAft>
            </a:pPr>
            <a:r>
              <a:rPr sz="1150" b="0" i="0">
                <a:solidFill>
                  <a:srgbClr val="FFFFFF"/>
                </a:solidFill>
                <a:latin typeface="Arial"/>
              </a:rPr>
              <a:t>→   check contradictions · orphans · staleness</a:t>
            </a:r>
          </a:p>
        </p:txBody>
      </p:sp>
      <p:sp>
        <p:nvSpPr>
          <p:cNvPr id="23" name="Down Arrow 22"/>
          <p:cNvSpPr/>
          <p:nvPr/>
        </p:nvSpPr>
        <p:spPr>
          <a:xfrm>
            <a:off x="5715000" y="4443984"/>
            <a:ext cx="384048" cy="292608"/>
          </a:xfrm>
          <a:prstGeom prst="downArrow">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4443984"/>
            <a:ext cx="5486400" cy="292608"/>
          </a:xfrm>
          <a:prstGeom prst="rect">
            <a:avLst/>
          </a:prstGeom>
          <a:noFill/>
        </p:spPr>
        <p:txBody>
          <a:bodyPr wrap="square" anchor="ctr">
            <a:spAutoFit/>
          </a:bodyPr>
          <a:lstStyle/>
          <a:p>
            <a:pPr algn="l">
              <a:lnSpc>
                <a:spcPct val="100000"/>
              </a:lnSpc>
              <a:spcBef>
                <a:spcPts val="0"/>
              </a:spcBef>
              <a:spcAft>
                <a:spcPts val="0"/>
              </a:spcAft>
            </a:pPr>
            <a:r>
              <a:rPr sz="1100" b="0" i="0">
                <a:solidFill>
                  <a:srgbClr val="6B5E78"/>
                </a:solidFill>
                <a:latin typeface="Arial"/>
              </a:rPr>
              <a:t>writes</a:t>
            </a:r>
          </a:p>
        </p:txBody>
      </p:sp>
      <p:sp>
        <p:nvSpPr>
          <p:cNvPr id="25" name="Rounded Rectangle 24"/>
          <p:cNvSpPr/>
          <p:nvPr/>
        </p:nvSpPr>
        <p:spPr>
          <a:xfrm>
            <a:off x="548640" y="4791456"/>
            <a:ext cx="11091672" cy="1207008"/>
          </a:xfrm>
          <a:prstGeom prst="roundRect">
            <a:avLst/>
          </a:prstGeom>
          <a:solidFill>
            <a:srgbClr val="FFE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791456"/>
            <a:ext cx="109728" cy="120700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828032"/>
            <a:ext cx="8229600" cy="274320"/>
          </a:xfrm>
          <a:prstGeom prst="rect">
            <a:avLst/>
          </a:prstGeom>
          <a:noFill/>
        </p:spPr>
        <p:txBody>
          <a:bodyPr wrap="square" anchor="t">
            <a:spAutoFit/>
          </a:bodyPr>
          <a:lstStyle/>
          <a:p>
            <a:pPr algn="l">
              <a:lnSpc>
                <a:spcPct val="100000"/>
              </a:lnSpc>
              <a:spcBef>
                <a:spcPts val="0"/>
              </a:spcBef>
              <a:spcAft>
                <a:spcPts val="0"/>
              </a:spcAft>
            </a:pPr>
            <a:r>
              <a:rPr sz="1100" b="1" i="0">
                <a:solidFill>
                  <a:srgbClr val="F97015"/>
                </a:solidFill>
                <a:latin typeface="Arial"/>
              </a:rPr>
              <a:t>LLM OWNS  —  LAYER 2 · the Wiki</a:t>
            </a:r>
          </a:p>
        </p:txBody>
      </p:sp>
      <p:sp>
        <p:nvSpPr>
          <p:cNvPr id="28" name="TextBox 27"/>
          <p:cNvSpPr txBox="1"/>
          <p:nvPr/>
        </p:nvSpPr>
        <p:spPr>
          <a:xfrm>
            <a:off x="877824" y="5120640"/>
            <a:ext cx="10515600" cy="868680"/>
          </a:xfrm>
          <a:prstGeom prst="rect">
            <a:avLst/>
          </a:prstGeom>
          <a:noFill/>
        </p:spPr>
        <p:txBody>
          <a:bodyPr wrap="square" anchor="t">
            <a:spAutoFit/>
          </a:bodyPr>
          <a:lstStyle/>
          <a:p>
            <a:pPr algn="l">
              <a:lnSpc>
                <a:spcPct val="100000"/>
              </a:lnSpc>
              <a:spcBef>
                <a:spcPts val="0"/>
              </a:spcBef>
              <a:spcAft>
                <a:spcPts val="300"/>
              </a:spcAft>
            </a:pPr>
            <a:r>
              <a:rPr sz="1100" b="1" i="0">
                <a:solidFill>
                  <a:srgbClr val="20142A"/>
                </a:solidFill>
                <a:latin typeface="Arial"/>
              </a:rPr>
              <a:t>Control files:   </a:t>
            </a:r>
            <a:r>
              <a:rPr sz="1100" b="0" i="0">
                <a:solidFill>
                  <a:srgbClr val="20142A"/>
                </a:solidFill>
                <a:latin typeface="Arial"/>
              </a:rPr>
              <a:t>index · log · _overview · _gaps · _reuse</a:t>
            </a:r>
          </a:p>
          <a:p>
            <a:pPr algn="l">
              <a:lnSpc>
                <a:spcPct val="100000"/>
              </a:lnSpc>
              <a:spcBef>
                <a:spcPts val="0"/>
              </a:spcBef>
              <a:spcAft>
                <a:spcPts val="300"/>
              </a:spcAft>
            </a:pPr>
            <a:r>
              <a:rPr sz="1100" b="1" i="0">
                <a:solidFill>
                  <a:srgbClr val="20142A"/>
                </a:solidFill>
                <a:latin typeface="Arial"/>
              </a:rPr>
              <a:t>One page each:   </a:t>
            </a:r>
            <a:r>
              <a:rPr sz="1100" b="0" i="0">
                <a:solidFill>
                  <a:srgbClr val="20142A"/>
                </a:solidFill>
                <a:latin typeface="Arial"/>
              </a:rPr>
              <a:t>decisions/ · entities/ · concepts/ · meetings/ · deliverables/ · queries/</a:t>
            </a:r>
          </a:p>
          <a:p>
            <a:pPr algn="l">
              <a:lnSpc>
                <a:spcPct val="100000"/>
              </a:lnSpc>
              <a:spcBef>
                <a:spcPts val="0"/>
              </a:spcBef>
              <a:spcAft>
                <a:spcPts val="300"/>
              </a:spcAft>
            </a:pPr>
            <a:r>
              <a:rPr sz="1000" b="0" i="1">
                <a:solidFill>
                  <a:srgbClr val="6B5E78"/>
                </a:solidFill>
                <a:latin typeface="Arial"/>
              </a:rPr>
              <a:t>The LLM creates, updates &amp; cross-references — you read, navigate, query.</a:t>
            </a:r>
          </a:p>
        </p:txBody>
      </p:sp>
      <p:sp>
        <p:nvSpPr>
          <p:cNvPr id="29" name="TextBox 28"/>
          <p:cNvSpPr txBox="1"/>
          <p:nvPr/>
        </p:nvSpPr>
        <p:spPr>
          <a:xfrm>
            <a:off x="548640" y="6053328"/>
            <a:ext cx="11091672" cy="320040"/>
          </a:xfrm>
          <a:prstGeom prst="rect">
            <a:avLst/>
          </a:prstGeom>
          <a:noFill/>
        </p:spPr>
        <p:txBody>
          <a:bodyPr wrap="square" anchor="t">
            <a:spAutoFit/>
          </a:bodyPr>
          <a:lstStyle/>
          <a:p>
            <a:pPr algn="ctr">
              <a:lnSpc>
                <a:spcPct val="100000"/>
              </a:lnSpc>
              <a:spcBef>
                <a:spcPts val="0"/>
              </a:spcBef>
              <a:spcAft>
                <a:spcPts val="0"/>
              </a:spcAft>
            </a:pPr>
            <a:r>
              <a:rPr sz="1000" b="0" i="0">
                <a:solidFill>
                  <a:srgbClr val="6B5E78"/>
                </a:solidFill>
                <a:latin typeface="Arial"/>
              </a:rPr>
              <a:t>FastAPI backend  ·  per-project subtrees  ·  git-versioned  ·  permission-aware  ·  retrieval routed by a cheap model (Haiku)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THE ARTIFACT</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A structured, cross-linked wiki</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5349240" cy="315468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86000"/>
            <a:ext cx="109728" cy="315468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4846320" cy="365760"/>
          </a:xfrm>
          <a:prstGeom prst="rect">
            <a:avLst/>
          </a:prstGeom>
          <a:noFill/>
        </p:spPr>
        <p:txBody>
          <a:bodyPr wrap="square" anchor="t">
            <a:spAutoFit/>
          </a:bodyPr>
          <a:lstStyle/>
          <a:p>
            <a:pPr algn="l">
              <a:lnSpc>
                <a:spcPct val="100000"/>
              </a:lnSpc>
              <a:spcBef>
                <a:spcPts val="0"/>
              </a:spcBef>
              <a:spcAft>
                <a:spcPts val="0"/>
              </a:spcAft>
            </a:pPr>
            <a:r>
              <a:rPr sz="1400" b="1" i="0">
                <a:solidFill>
                  <a:srgbClr val="F97015"/>
                </a:solidFill>
                <a:latin typeface="Arial"/>
              </a:rPr>
              <a:t>Control files</a:t>
            </a:r>
          </a:p>
        </p:txBody>
      </p:sp>
      <p:sp>
        <p:nvSpPr>
          <p:cNvPr id="9" name="TextBox 8"/>
          <p:cNvSpPr txBox="1"/>
          <p:nvPr/>
        </p:nvSpPr>
        <p:spPr>
          <a:xfrm>
            <a:off x="868680" y="2907792"/>
            <a:ext cx="4846320" cy="4572000"/>
          </a:xfrm>
          <a:prstGeom prst="rect">
            <a:avLst/>
          </a:prstGeom>
          <a:noFill/>
        </p:spPr>
        <p:txBody>
          <a:bodyPr wrap="square">
            <a:spAutoFit/>
          </a:bodyPr>
          <a:lstStyle/>
          <a:p>
            <a:pPr>
              <a:lnSpc>
                <a:spcPct val="105000"/>
              </a:lnSpc>
              <a:spcBef>
                <a:spcPts val="0"/>
              </a:spcBef>
              <a:spcAft>
                <a:spcPts val="900"/>
              </a:spcAft>
            </a:pPr>
            <a:r>
              <a:rPr sz="1350" b="1">
                <a:solidFill>
                  <a:srgbClr val="F97015"/>
                </a:solidFill>
                <a:latin typeface="Arial"/>
              </a:rPr>
              <a:t>›  </a:t>
            </a:r>
            <a:r>
              <a:rPr sz="1350" b="1">
                <a:solidFill>
                  <a:srgbClr val="20142A"/>
                </a:solidFill>
                <a:latin typeface="Arial"/>
              </a:rPr>
              <a:t>index.md</a:t>
            </a:r>
            <a:r>
              <a:rPr sz="1350" b="0">
                <a:solidFill>
                  <a:srgbClr val="6B5E78"/>
                </a:solidFill>
                <a:latin typeface="Arial"/>
              </a:rPr>
              <a:t>  page catalog — read first on every query</a:t>
            </a:r>
          </a:p>
          <a:p>
            <a:pPr>
              <a:lnSpc>
                <a:spcPct val="105000"/>
              </a:lnSpc>
              <a:spcBef>
                <a:spcPts val="0"/>
              </a:spcBef>
              <a:spcAft>
                <a:spcPts val="900"/>
              </a:spcAft>
            </a:pPr>
            <a:r>
              <a:rPr sz="1350" b="1">
                <a:solidFill>
                  <a:srgbClr val="F97015"/>
                </a:solidFill>
                <a:latin typeface="Arial"/>
              </a:rPr>
              <a:t>›  </a:t>
            </a:r>
            <a:r>
              <a:rPr sz="1350" b="1">
                <a:solidFill>
                  <a:srgbClr val="20142A"/>
                </a:solidFill>
                <a:latin typeface="Arial"/>
              </a:rPr>
              <a:t>log.md</a:t>
            </a:r>
            <a:r>
              <a:rPr sz="1350" b="0">
                <a:solidFill>
                  <a:srgbClr val="6B5E78"/>
                </a:solidFill>
                <a:latin typeface="Arial"/>
              </a:rPr>
              <a:t>  append-only record of every operation</a:t>
            </a:r>
          </a:p>
          <a:p>
            <a:pPr>
              <a:lnSpc>
                <a:spcPct val="105000"/>
              </a:lnSpc>
              <a:spcBef>
                <a:spcPts val="0"/>
              </a:spcBef>
              <a:spcAft>
                <a:spcPts val="900"/>
              </a:spcAft>
            </a:pPr>
            <a:r>
              <a:rPr sz="1350" b="1">
                <a:solidFill>
                  <a:srgbClr val="F97015"/>
                </a:solidFill>
                <a:latin typeface="Arial"/>
              </a:rPr>
              <a:t>›  </a:t>
            </a:r>
            <a:r>
              <a:rPr sz="1350" b="1">
                <a:solidFill>
                  <a:srgbClr val="20142A"/>
                </a:solidFill>
                <a:latin typeface="Arial"/>
              </a:rPr>
              <a:t>_overview.md</a:t>
            </a:r>
            <a:r>
              <a:rPr sz="1350" b="0">
                <a:solidFill>
                  <a:srgbClr val="6B5E78"/>
                </a:solidFill>
                <a:latin typeface="Arial"/>
              </a:rPr>
              <a:t>  always-current project synthesis</a:t>
            </a:r>
          </a:p>
          <a:p>
            <a:pPr>
              <a:lnSpc>
                <a:spcPct val="105000"/>
              </a:lnSpc>
              <a:spcBef>
                <a:spcPts val="0"/>
              </a:spcBef>
              <a:spcAft>
                <a:spcPts val="900"/>
              </a:spcAft>
            </a:pPr>
            <a:r>
              <a:rPr sz="1350" b="1">
                <a:solidFill>
                  <a:srgbClr val="F97015"/>
                </a:solidFill>
                <a:latin typeface="Arial"/>
              </a:rPr>
              <a:t>›  </a:t>
            </a:r>
            <a:r>
              <a:rPr sz="1350" b="1">
                <a:solidFill>
                  <a:srgbClr val="20142A"/>
                </a:solidFill>
                <a:latin typeface="Arial"/>
              </a:rPr>
              <a:t>_gaps.md  /  _reuse.md</a:t>
            </a:r>
            <a:r>
              <a:rPr sz="1350" b="0">
                <a:solidFill>
                  <a:srgbClr val="6B5E78"/>
                </a:solidFill>
                <a:latin typeface="Arial"/>
              </a:rPr>
              <a:t>  open questions · cross-project learnings</a:t>
            </a:r>
          </a:p>
        </p:txBody>
      </p:sp>
      <p:sp>
        <p:nvSpPr>
          <p:cNvPr id="10" name="Rounded Rectangle 9"/>
          <p:cNvSpPr/>
          <p:nvPr/>
        </p:nvSpPr>
        <p:spPr>
          <a:xfrm>
            <a:off x="6126480" y="2286000"/>
            <a:ext cx="5513832" cy="3154680"/>
          </a:xfrm>
          <a:prstGeom prst="roundRect">
            <a:avLst/>
          </a:prstGeom>
          <a:solidFill>
            <a:srgbClr val="FFFFFF"/>
          </a:solidFill>
          <a:ln w="19050">
            <a:solidFill>
              <a:srgbClr val="EADF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468880"/>
            <a:ext cx="5029200" cy="365760"/>
          </a:xfrm>
          <a:prstGeom prst="rect">
            <a:avLst/>
          </a:prstGeom>
          <a:noFill/>
        </p:spPr>
        <p:txBody>
          <a:bodyPr wrap="square" anchor="t">
            <a:spAutoFit/>
          </a:bodyPr>
          <a:lstStyle/>
          <a:p>
            <a:pPr algn="l">
              <a:lnSpc>
                <a:spcPct val="100000"/>
              </a:lnSpc>
              <a:spcBef>
                <a:spcPts val="0"/>
              </a:spcBef>
              <a:spcAft>
                <a:spcPts val="0"/>
              </a:spcAft>
            </a:pPr>
            <a:r>
              <a:rPr sz="1400" b="1" i="0">
                <a:solidFill>
                  <a:srgbClr val="67269C"/>
                </a:solidFill>
                <a:latin typeface="Arial"/>
              </a:rPr>
              <a:t>Page types  (one entity per page)</a:t>
            </a:r>
          </a:p>
        </p:txBody>
      </p:sp>
      <p:sp>
        <p:nvSpPr>
          <p:cNvPr id="12" name="TextBox 11"/>
          <p:cNvSpPr txBox="1"/>
          <p:nvPr/>
        </p:nvSpPr>
        <p:spPr>
          <a:xfrm>
            <a:off x="6446520" y="2907792"/>
            <a:ext cx="5029200" cy="4572000"/>
          </a:xfrm>
          <a:prstGeom prst="rect">
            <a:avLst/>
          </a:prstGeom>
          <a:noFill/>
        </p:spPr>
        <p:txBody>
          <a:bodyPr wrap="square">
            <a:spAutoFit/>
          </a:bodyPr>
          <a:lstStyle/>
          <a:p>
            <a:pPr>
              <a:lnSpc>
                <a:spcPct val="105000"/>
              </a:lnSpc>
              <a:spcBef>
                <a:spcPts val="0"/>
              </a:spcBef>
              <a:spcAft>
                <a:spcPts val="900"/>
              </a:spcAft>
            </a:pPr>
            <a:r>
              <a:rPr sz="1350" b="1">
                <a:solidFill>
                  <a:srgbClr val="67269C"/>
                </a:solidFill>
                <a:latin typeface="Arial"/>
              </a:rPr>
              <a:t>›  </a:t>
            </a:r>
            <a:r>
              <a:rPr sz="1350" b="1">
                <a:solidFill>
                  <a:srgbClr val="20142A"/>
                </a:solidFill>
                <a:latin typeface="Arial"/>
              </a:rPr>
              <a:t>decisions/</a:t>
            </a:r>
            <a:r>
              <a:rPr sz="1350" b="0">
                <a:solidFill>
                  <a:srgbClr val="6B5E78"/>
                </a:solidFill>
                <a:latin typeface="Arial"/>
              </a:rPr>
              <a:t>  choices, rationale, alternatives</a:t>
            </a:r>
          </a:p>
          <a:p>
            <a:pPr>
              <a:lnSpc>
                <a:spcPct val="105000"/>
              </a:lnSpc>
              <a:spcBef>
                <a:spcPts val="0"/>
              </a:spcBef>
              <a:spcAft>
                <a:spcPts val="900"/>
              </a:spcAft>
            </a:pPr>
            <a:r>
              <a:rPr sz="1350" b="1">
                <a:solidFill>
                  <a:srgbClr val="67269C"/>
                </a:solidFill>
                <a:latin typeface="Arial"/>
              </a:rPr>
              <a:t>›  </a:t>
            </a:r>
            <a:r>
              <a:rPr sz="1350" b="1">
                <a:solidFill>
                  <a:srgbClr val="20142A"/>
                </a:solidFill>
                <a:latin typeface="Arial"/>
              </a:rPr>
              <a:t>entities/</a:t>
            </a:r>
            <a:r>
              <a:rPr sz="1350" b="0">
                <a:solidFill>
                  <a:srgbClr val="6B5E78"/>
                </a:solidFill>
                <a:latin typeface="Arial"/>
              </a:rPr>
              <a:t>  people, partners, organisations</a:t>
            </a:r>
          </a:p>
          <a:p>
            <a:pPr>
              <a:lnSpc>
                <a:spcPct val="105000"/>
              </a:lnSpc>
              <a:spcBef>
                <a:spcPts val="0"/>
              </a:spcBef>
              <a:spcAft>
                <a:spcPts val="900"/>
              </a:spcAft>
            </a:pPr>
            <a:r>
              <a:rPr sz="1350" b="1">
                <a:solidFill>
                  <a:srgbClr val="67269C"/>
                </a:solidFill>
                <a:latin typeface="Arial"/>
              </a:rPr>
              <a:t>›  </a:t>
            </a:r>
            <a:r>
              <a:rPr sz="1350" b="1">
                <a:solidFill>
                  <a:srgbClr val="20142A"/>
                </a:solidFill>
                <a:latin typeface="Arial"/>
              </a:rPr>
              <a:t>concepts/</a:t>
            </a:r>
            <a:r>
              <a:rPr sz="1350" b="0">
                <a:solidFill>
                  <a:srgbClr val="6B5E78"/>
                </a:solidFill>
                <a:latin typeface="Arial"/>
              </a:rPr>
              <a:t>  technical &amp; domain knowledge</a:t>
            </a:r>
          </a:p>
          <a:p>
            <a:pPr>
              <a:lnSpc>
                <a:spcPct val="105000"/>
              </a:lnSpc>
              <a:spcBef>
                <a:spcPts val="0"/>
              </a:spcBef>
              <a:spcAft>
                <a:spcPts val="900"/>
              </a:spcAft>
            </a:pPr>
            <a:r>
              <a:rPr sz="1350" b="1">
                <a:solidFill>
                  <a:srgbClr val="67269C"/>
                </a:solidFill>
                <a:latin typeface="Arial"/>
              </a:rPr>
              <a:t>›  </a:t>
            </a:r>
            <a:r>
              <a:rPr sz="1350" b="1">
                <a:solidFill>
                  <a:srgbClr val="20142A"/>
                </a:solidFill>
                <a:latin typeface="Arial"/>
              </a:rPr>
              <a:t>meetings/  ·  deliverables/</a:t>
            </a:r>
            <a:r>
              <a:rPr sz="1350" b="0">
                <a:solidFill>
                  <a:srgbClr val="6B5E78"/>
                </a:solidFill>
                <a:latin typeface="Arial"/>
              </a:rPr>
              <a:t>  sessions · milestones</a:t>
            </a:r>
          </a:p>
        </p:txBody>
      </p:sp>
      <p:sp>
        <p:nvSpPr>
          <p:cNvPr id="13" name="TextBox 12"/>
          <p:cNvSpPr txBox="1"/>
          <p:nvPr/>
        </p:nvSpPr>
        <p:spPr>
          <a:xfrm>
            <a:off x="548640" y="5669280"/>
            <a:ext cx="11064240" cy="548640"/>
          </a:xfrm>
          <a:prstGeom prst="rect">
            <a:avLst/>
          </a:prstGeom>
          <a:noFill/>
        </p:spPr>
        <p:txBody>
          <a:bodyPr wrap="square" anchor="t">
            <a:spAutoFit/>
          </a:bodyPr>
          <a:lstStyle/>
          <a:p>
            <a:pPr algn="l">
              <a:lnSpc>
                <a:spcPct val="100000"/>
              </a:lnSpc>
              <a:spcBef>
                <a:spcPts val="0"/>
              </a:spcBef>
              <a:spcAft>
                <a:spcPts val="0"/>
              </a:spcAft>
            </a:pPr>
            <a:r>
              <a:rPr sz="1400" b="0" i="0">
                <a:solidFill>
                  <a:srgbClr val="20142A"/>
                </a:solidFill>
                <a:latin typeface="Arial"/>
              </a:rPr>
              <a:t>Pages link via </a:t>
            </a:r>
            <a:r>
              <a:rPr sz="1400" b="1" i="0">
                <a:solidFill>
                  <a:srgbClr val="F97015"/>
                </a:solidFill>
                <a:latin typeface="Arial"/>
              </a:rPr>
              <a:t>[[page-slug]]</a:t>
            </a:r>
            <a:r>
              <a:rPr sz="1400" b="0" i="0">
                <a:solidFill>
                  <a:srgbClr val="20142A"/>
                </a:solidFill>
                <a:latin typeface="Arial"/>
              </a:rPr>
              <a:t>  ·  templates enforce required sections, so missing info shows up as a visible gap.</a:t>
            </a:r>
          </a:p>
        </p:txBody>
      </p:sp>
      <p:sp>
        <p:nvSpPr>
          <p:cNvPr id="14" name="TextBox 13"/>
          <p:cNvSpPr txBox="1"/>
          <p:nvPr/>
        </p:nvSpPr>
        <p:spPr>
          <a:xfrm>
            <a:off x="548640" y="6419088"/>
            <a:ext cx="7315200" cy="365760"/>
          </a:xfrm>
          <a:prstGeom prst="rect">
            <a:avLst/>
          </a:prstGeom>
          <a:noFill/>
        </p:spPr>
        <p:txBody>
          <a:bodyPr wrap="square" anchor="t">
            <a:spAutoFit/>
          </a:bodyPr>
          <a:lstStyle/>
          <a:p>
            <a:pPr algn="l">
              <a:lnSpc>
                <a:spcPct val="100000"/>
              </a:lnSpc>
              <a:spcBef>
                <a:spcPts val="0"/>
              </a:spcBef>
              <a:spcAft>
                <a:spcPts val="0"/>
              </a:spcAft>
            </a:pPr>
            <a:r>
              <a:rPr sz="950" b="0" i="0">
                <a:solidFill>
                  <a:srgbClr val="6B5E78"/>
                </a:solidFill>
                <a:latin typeface="Arial"/>
              </a:rPr>
              <a:t>KickstartAI  ·  Living Project Wiki</a:t>
            </a:r>
          </a:p>
        </p:txBody>
      </p:sp>
      <p:sp>
        <p:nvSpPr>
          <p:cNvPr id="15" name="TextBox 14"/>
          <p:cNvSpPr txBox="1"/>
          <p:nvPr/>
        </p:nvSpPr>
        <p:spPr>
          <a:xfrm>
            <a:off x="10424160" y="6419088"/>
            <a:ext cx="1280160" cy="365760"/>
          </a:xfrm>
          <a:prstGeom prst="rect">
            <a:avLst/>
          </a:prstGeom>
          <a:noFill/>
        </p:spPr>
        <p:txBody>
          <a:bodyPr wrap="square" anchor="t">
            <a:spAutoFit/>
          </a:bodyPr>
          <a:lstStyle/>
          <a:p>
            <a:pPr algn="r">
              <a:lnSpc>
                <a:spcPct val="100000"/>
              </a:lnSpc>
              <a:spcBef>
                <a:spcPts val="0"/>
              </a:spcBef>
              <a:spcAft>
                <a:spcPts val="0"/>
              </a:spcAft>
            </a:pPr>
            <a:r>
              <a:rPr sz="950" b="1" i="0">
                <a:solidFill>
                  <a:srgbClr val="67269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OPERATION 1 — INGEST</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The engine: two-phase compile</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40280"/>
            <a:ext cx="5394960" cy="1874519"/>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77440"/>
            <a:ext cx="4937760" cy="365760"/>
          </a:xfrm>
          <a:prstGeom prst="rect">
            <a:avLst/>
          </a:prstGeom>
          <a:noFill/>
        </p:spPr>
        <p:txBody>
          <a:bodyPr wrap="square" anchor="t">
            <a:spAutoFit/>
          </a:bodyPr>
          <a:lstStyle/>
          <a:p>
            <a:pPr algn="l">
              <a:lnSpc>
                <a:spcPct val="100000"/>
              </a:lnSpc>
              <a:spcBef>
                <a:spcPts val="0"/>
              </a:spcBef>
              <a:spcAft>
                <a:spcPts val="0"/>
              </a:spcAft>
            </a:pPr>
            <a:r>
              <a:rPr sz="1500" b="1" i="0">
                <a:solidFill>
                  <a:srgbClr val="67269C"/>
                </a:solidFill>
                <a:latin typeface="Arial"/>
              </a:rPr>
              <a:t>Phase 1 · Analysis</a:t>
            </a:r>
            <a:r>
              <a:rPr sz="1200" b="0" i="0">
                <a:solidFill>
                  <a:srgbClr val="6B5E78"/>
                </a:solidFill>
                <a:latin typeface="Arial"/>
              </a:rPr>
              <a:t>  (streamed)</a:t>
            </a:r>
          </a:p>
        </p:txBody>
      </p:sp>
      <p:sp>
        <p:nvSpPr>
          <p:cNvPr id="8" name="TextBox 7"/>
          <p:cNvSpPr txBox="1"/>
          <p:nvPr/>
        </p:nvSpPr>
        <p:spPr>
          <a:xfrm>
            <a:off x="822960" y="2816352"/>
            <a:ext cx="4892040" cy="4572000"/>
          </a:xfrm>
          <a:prstGeom prst="rect">
            <a:avLst/>
          </a:prstGeom>
          <a:noFill/>
        </p:spPr>
        <p:txBody>
          <a:bodyPr wrap="square">
            <a:spAutoFit/>
          </a:bodyPr>
          <a:lstStyle/>
          <a:p>
            <a:pPr>
              <a:lnSpc>
                <a:spcPct val="105000"/>
              </a:lnSpc>
              <a:spcBef>
                <a:spcPts val="0"/>
              </a:spcBef>
              <a:spcAft>
                <a:spcPts val="700"/>
              </a:spcAft>
            </a:pPr>
            <a:r>
              <a:rPr sz="1300" b="1">
                <a:solidFill>
                  <a:srgbClr val="F97015"/>
                </a:solidFill>
                <a:latin typeface="Arial"/>
              </a:rPr>
              <a:t>›  </a:t>
            </a:r>
            <a:r>
              <a:rPr sz="1300" b="1">
                <a:solidFill>
                  <a:srgbClr val="20142A"/>
                </a:solidFill>
                <a:latin typeface="Arial"/>
              </a:rPr>
              <a:t>Classify</a:t>
            </a:r>
            <a:r>
              <a:rPr sz="1300" b="0">
                <a:solidFill>
                  <a:srgbClr val="6B5E78"/>
                </a:solidFill>
                <a:latin typeface="Arial"/>
              </a:rPr>
              <a:t>  meeting / decision / finding …</a:t>
            </a:r>
          </a:p>
          <a:p>
            <a:pPr>
              <a:lnSpc>
                <a:spcPct val="105000"/>
              </a:lnSpc>
              <a:spcBef>
                <a:spcPts val="0"/>
              </a:spcBef>
              <a:spcAft>
                <a:spcPts val="700"/>
              </a:spcAft>
            </a:pPr>
            <a:r>
              <a:rPr sz="1300" b="1">
                <a:solidFill>
                  <a:srgbClr val="F97015"/>
                </a:solidFill>
                <a:latin typeface="Arial"/>
              </a:rPr>
              <a:t>›  </a:t>
            </a:r>
            <a:r>
              <a:rPr sz="1300" b="1">
                <a:solidFill>
                  <a:srgbClr val="20142A"/>
                </a:solidFill>
                <a:latin typeface="Arial"/>
              </a:rPr>
              <a:t>Extract takeaways  &amp;  flag conflicts</a:t>
            </a:r>
            <a:r>
              <a:rPr sz="1300" b="0">
                <a:solidFill>
                  <a:srgbClr val="6B5E78"/>
                </a:solidFill>
                <a:latin typeface="Arial"/>
              </a:rPr>
              <a:t>  ⚠ vs. existing pages</a:t>
            </a:r>
          </a:p>
          <a:p>
            <a:pPr>
              <a:lnSpc>
                <a:spcPct val="105000"/>
              </a:lnSpc>
              <a:spcBef>
                <a:spcPts val="0"/>
              </a:spcBef>
              <a:spcAft>
                <a:spcPts val="700"/>
              </a:spcAft>
            </a:pPr>
            <a:r>
              <a:rPr sz="1300" b="1">
                <a:solidFill>
                  <a:srgbClr val="F97015"/>
                </a:solidFill>
                <a:latin typeface="Arial"/>
              </a:rPr>
              <a:t>›  </a:t>
            </a:r>
            <a:r>
              <a:rPr sz="1300" b="1">
                <a:solidFill>
                  <a:srgbClr val="20142A"/>
                </a:solidFill>
                <a:latin typeface="Arial"/>
              </a:rPr>
              <a:t>Plan</a:t>
            </a:r>
            <a:r>
              <a:rPr sz="1300" b="0">
                <a:solidFill>
                  <a:srgbClr val="6B5E78"/>
                </a:solidFill>
                <a:latin typeface="Arial"/>
              </a:rPr>
              <a:t>  which pages to create / update</a:t>
            </a:r>
          </a:p>
        </p:txBody>
      </p:sp>
      <p:sp>
        <p:nvSpPr>
          <p:cNvPr id="9" name="Rounded Rectangle 8"/>
          <p:cNvSpPr/>
          <p:nvPr/>
        </p:nvSpPr>
        <p:spPr>
          <a:xfrm>
            <a:off x="6245352" y="2240280"/>
            <a:ext cx="5394960" cy="1874519"/>
          </a:xfrm>
          <a:prstGeom prst="round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377440"/>
            <a:ext cx="4937760" cy="365760"/>
          </a:xfrm>
          <a:prstGeom prst="rect">
            <a:avLst/>
          </a:prstGeom>
          <a:noFill/>
        </p:spPr>
        <p:txBody>
          <a:bodyPr wrap="square" anchor="t">
            <a:spAutoFit/>
          </a:bodyPr>
          <a:lstStyle/>
          <a:p>
            <a:pPr algn="l">
              <a:lnSpc>
                <a:spcPct val="100000"/>
              </a:lnSpc>
              <a:spcBef>
                <a:spcPts val="0"/>
              </a:spcBef>
              <a:spcAft>
                <a:spcPts val="0"/>
              </a:spcAft>
            </a:pPr>
            <a:r>
              <a:rPr sz="1500" b="1" i="0">
                <a:solidFill>
                  <a:srgbClr val="FFFFFF"/>
                </a:solidFill>
                <a:latin typeface="Arial"/>
              </a:rPr>
              <a:t>Phase 2 · Apply</a:t>
            </a:r>
            <a:r>
              <a:rPr sz="1200" b="0" i="0">
                <a:solidFill>
                  <a:srgbClr val="E3D6F2"/>
                </a:solidFill>
                <a:latin typeface="Arial"/>
              </a:rPr>
              <a:t>  (writes files)</a:t>
            </a:r>
          </a:p>
        </p:txBody>
      </p:sp>
      <p:sp>
        <p:nvSpPr>
          <p:cNvPr id="11" name="TextBox 10"/>
          <p:cNvSpPr txBox="1"/>
          <p:nvPr/>
        </p:nvSpPr>
        <p:spPr>
          <a:xfrm>
            <a:off x="6519672" y="2816352"/>
            <a:ext cx="4892040" cy="4572000"/>
          </a:xfrm>
          <a:prstGeom prst="rect">
            <a:avLst/>
          </a:prstGeom>
          <a:noFill/>
        </p:spPr>
        <p:txBody>
          <a:bodyPr wrap="square">
            <a:spAutoFit/>
          </a:bodyPr>
          <a:lstStyle/>
          <a:p>
            <a:pPr>
              <a:lnSpc>
                <a:spcPct val="105000"/>
              </a:lnSpc>
              <a:spcBef>
                <a:spcPts val="0"/>
              </a:spcBef>
              <a:spcAft>
                <a:spcPts val="700"/>
              </a:spcAft>
            </a:pPr>
            <a:r>
              <a:rPr sz="1300" b="1">
                <a:solidFill>
                  <a:srgbClr val="F97015"/>
                </a:solidFill>
                <a:latin typeface="Arial"/>
              </a:rPr>
              <a:t>›  </a:t>
            </a:r>
            <a:r>
              <a:rPr sz="1300" b="1">
                <a:solidFill>
                  <a:srgbClr val="20142A"/>
                </a:solidFill>
                <a:latin typeface="Arial"/>
              </a:rPr>
              <a:t>Model emits JSON file-changes</a:t>
            </a:r>
          </a:p>
          <a:p>
            <a:pPr>
              <a:lnSpc>
                <a:spcPct val="105000"/>
              </a:lnSpc>
              <a:spcBef>
                <a:spcPts val="0"/>
              </a:spcBef>
              <a:spcAft>
                <a:spcPts val="700"/>
              </a:spcAft>
            </a:pPr>
            <a:r>
              <a:rPr sz="1300" b="1">
                <a:solidFill>
                  <a:srgbClr val="F97015"/>
                </a:solidFill>
                <a:latin typeface="Arial"/>
              </a:rPr>
              <a:t>›  </a:t>
            </a:r>
            <a:r>
              <a:rPr sz="1300" b="1">
                <a:solidFill>
                  <a:srgbClr val="20142A"/>
                </a:solidFill>
                <a:latin typeface="Arial"/>
              </a:rPr>
              <a:t>Extend pages — never overwrite</a:t>
            </a:r>
          </a:p>
          <a:p>
            <a:pPr>
              <a:lnSpc>
                <a:spcPct val="105000"/>
              </a:lnSpc>
              <a:spcBef>
                <a:spcPts val="0"/>
              </a:spcBef>
              <a:spcAft>
                <a:spcPts val="700"/>
              </a:spcAft>
            </a:pPr>
            <a:r>
              <a:rPr sz="1300" b="1">
                <a:solidFill>
                  <a:srgbClr val="F97015"/>
                </a:solidFill>
                <a:latin typeface="Arial"/>
              </a:rPr>
              <a:t>›  </a:t>
            </a:r>
            <a:r>
              <a:rPr sz="1300" b="1">
                <a:solidFill>
                  <a:srgbClr val="20142A"/>
                </a:solidFill>
                <a:latin typeface="Arial"/>
              </a:rPr>
              <a:t>Update index · log · gaps · links</a:t>
            </a:r>
          </a:p>
        </p:txBody>
      </p:sp>
      <p:sp>
        <p:nvSpPr>
          <p:cNvPr id="12" name="Right Arrow 11"/>
          <p:cNvSpPr/>
          <p:nvPr/>
        </p:nvSpPr>
        <p:spPr>
          <a:xfrm>
            <a:off x="5897880" y="3035808"/>
            <a:ext cx="384048" cy="274320"/>
          </a:xfrm>
          <a:prstGeom prst="rightArrow">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4370832"/>
            <a:ext cx="11091672" cy="1207008"/>
          </a:xfrm>
          <a:prstGeom prst="roundRect">
            <a:avLst/>
          </a:prstGeom>
          <a:solidFill>
            <a:srgbClr val="290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498848"/>
            <a:ext cx="10698480" cy="1005840"/>
          </a:xfrm>
          <a:prstGeom prst="rect">
            <a:avLst/>
          </a:prstGeom>
          <a:noFill/>
        </p:spPr>
        <p:txBody>
          <a:bodyPr wrap="square" anchor="t">
            <a:spAutoFit/>
          </a:bodyPr>
          <a:lstStyle/>
          <a:p>
            <a:pPr algn="l">
              <a:lnSpc>
                <a:spcPct val="100000"/>
              </a:lnSpc>
              <a:spcBef>
                <a:spcPts val="0"/>
              </a:spcBef>
              <a:spcAft>
                <a:spcPts val="700"/>
              </a:spcAft>
            </a:pPr>
            <a:r>
              <a:rPr sz="1350" b="1" i="0">
                <a:solidFill>
                  <a:srgbClr val="F97015"/>
                </a:solidFill>
                <a:latin typeface="Arial"/>
              </a:rPr>
              <a:t>Then:  </a:t>
            </a:r>
            <a:r>
              <a:rPr sz="1350" b="0" i="0">
                <a:solidFill>
                  <a:srgbClr val="FFFFFF"/>
                </a:solidFill>
                <a:latin typeface="Arial"/>
              </a:rPr>
              <a:t>commit &amp; push to git  ·  record per-source tokens in token_usage.md</a:t>
            </a:r>
          </a:p>
          <a:p>
            <a:pPr algn="l">
              <a:lnSpc>
                <a:spcPct val="100000"/>
              </a:lnSpc>
              <a:spcBef>
                <a:spcPts val="0"/>
              </a:spcBef>
              <a:spcAft>
                <a:spcPts val="700"/>
              </a:spcAft>
            </a:pPr>
            <a:r>
              <a:rPr sz="1350" b="1" i="0">
                <a:solidFill>
                  <a:srgbClr val="F97015"/>
                </a:solidFill>
                <a:latin typeface="Arial"/>
              </a:rPr>
              <a:t>Cost:  </a:t>
            </a:r>
            <a:r>
              <a:rPr sz="1350" b="0" i="0">
                <a:solidFill>
                  <a:srgbClr val="FFFFFF"/>
                </a:solidFill>
                <a:latin typeface="Arial"/>
              </a:rPr>
              <a:t>the wiki + source is sent once as a cached block → Phase 2 re-reads it at ~10%.   Model: Opus 4.8</a:t>
            </a:r>
          </a:p>
        </p:txBody>
      </p:sp>
      <p:sp>
        <p:nvSpPr>
          <p:cNvPr id="15" name="TextBox 14"/>
          <p:cNvSpPr txBox="1"/>
          <p:nvPr/>
        </p:nvSpPr>
        <p:spPr>
          <a:xfrm>
            <a:off x="548640" y="5742432"/>
            <a:ext cx="11064240" cy="457200"/>
          </a:xfrm>
          <a:prstGeom prst="rect">
            <a:avLst/>
          </a:prstGeom>
          <a:noFill/>
        </p:spPr>
        <p:txBody>
          <a:bodyPr wrap="square" anchor="t">
            <a:spAutoFit/>
          </a:bodyPr>
          <a:lstStyle/>
          <a:p>
            <a:pPr algn="l">
              <a:lnSpc>
                <a:spcPct val="100000"/>
              </a:lnSpc>
              <a:spcBef>
                <a:spcPts val="0"/>
              </a:spcBef>
              <a:spcAft>
                <a:spcPts val="0"/>
              </a:spcAft>
            </a:pPr>
            <a:r>
              <a:rPr sz="1300" b="0" i="1">
                <a:solidFill>
                  <a:srgbClr val="6B5E78"/>
                </a:solidFill>
                <a:latin typeface="Arial"/>
              </a:rPr>
              <a:t>A single source can touch 10–15 pages — expected and healthy.</a:t>
            </a:r>
          </a:p>
        </p:txBody>
      </p:sp>
      <p:sp>
        <p:nvSpPr>
          <p:cNvPr id="16" name="TextBox 15"/>
          <p:cNvSpPr txBox="1"/>
          <p:nvPr/>
        </p:nvSpPr>
        <p:spPr>
          <a:xfrm>
            <a:off x="548640" y="6419088"/>
            <a:ext cx="7315200" cy="365760"/>
          </a:xfrm>
          <a:prstGeom prst="rect">
            <a:avLst/>
          </a:prstGeom>
          <a:noFill/>
        </p:spPr>
        <p:txBody>
          <a:bodyPr wrap="square" anchor="t">
            <a:spAutoFit/>
          </a:bodyPr>
          <a:lstStyle/>
          <a:p>
            <a:pPr algn="l">
              <a:lnSpc>
                <a:spcPct val="100000"/>
              </a:lnSpc>
              <a:spcBef>
                <a:spcPts val="0"/>
              </a:spcBef>
              <a:spcAft>
                <a:spcPts val="0"/>
              </a:spcAft>
            </a:pPr>
            <a:r>
              <a:rPr sz="950" b="0" i="0">
                <a:solidFill>
                  <a:srgbClr val="6B5E78"/>
                </a:solidFill>
                <a:latin typeface="Arial"/>
              </a:rPr>
              <a:t>KickstartAI  ·  Living Project Wiki</a:t>
            </a:r>
          </a:p>
        </p:txBody>
      </p:sp>
      <p:sp>
        <p:nvSpPr>
          <p:cNvPr id="17" name="TextBox 16"/>
          <p:cNvSpPr txBox="1"/>
          <p:nvPr/>
        </p:nvSpPr>
        <p:spPr>
          <a:xfrm>
            <a:off x="10424160" y="6419088"/>
            <a:ext cx="1280160" cy="365760"/>
          </a:xfrm>
          <a:prstGeom prst="rect">
            <a:avLst/>
          </a:prstGeom>
          <a:noFill/>
        </p:spPr>
        <p:txBody>
          <a:bodyPr wrap="square" anchor="t">
            <a:spAutoFit/>
          </a:bodyPr>
          <a:lstStyle/>
          <a:p>
            <a:pPr algn="r">
              <a:lnSpc>
                <a:spcPct val="100000"/>
              </a:lnSpc>
              <a:spcBef>
                <a:spcPts val="0"/>
              </a:spcBef>
              <a:spcAft>
                <a:spcPts val="0"/>
              </a:spcAft>
            </a:pPr>
            <a:r>
              <a:rPr sz="950" b="1" i="0">
                <a:solidFill>
                  <a:srgbClr val="67269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OPERATION 2 — QUERY</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Answer by retrieval, not by dumping</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331720"/>
            <a:ext cx="6858000" cy="4572000"/>
          </a:xfrm>
          <a:prstGeom prst="rect">
            <a:avLst/>
          </a:prstGeom>
          <a:noFill/>
        </p:spPr>
        <p:txBody>
          <a:bodyPr wrap="square">
            <a:spAutoFit/>
          </a:bodyPr>
          <a:lstStyle/>
          <a:p>
            <a:pPr>
              <a:lnSpc>
                <a:spcPct val="105000"/>
              </a:lnSpc>
              <a:spcBef>
                <a:spcPts val="0"/>
              </a:spcBef>
              <a:spcAft>
                <a:spcPts val="1400"/>
              </a:spcAft>
            </a:pPr>
            <a:r>
              <a:rPr sz="1550" b="1">
                <a:solidFill>
                  <a:srgbClr val="F97015"/>
                </a:solidFill>
                <a:latin typeface="Arial"/>
              </a:rPr>
              <a:t>—  </a:t>
            </a:r>
            <a:r>
              <a:rPr sz="1550" b="1">
                <a:solidFill>
                  <a:srgbClr val="20142A"/>
                </a:solidFill>
                <a:latin typeface="Arial"/>
              </a:rPr>
              <a:t>Read the index / catalog first.</a:t>
            </a:r>
            <a:r>
              <a:rPr sz="1550" b="0">
                <a:solidFill>
                  <a:srgbClr val="6B5E78"/>
                </a:solidFill>
                <a:latin typeface="Arial"/>
              </a:rPr>
              <a:t>  the page titles, not the whole wiki.</a:t>
            </a:r>
          </a:p>
          <a:p>
            <a:pPr>
              <a:lnSpc>
                <a:spcPct val="105000"/>
              </a:lnSpc>
              <a:spcBef>
                <a:spcPts val="0"/>
              </a:spcBef>
              <a:spcAft>
                <a:spcPts val="1400"/>
              </a:spcAft>
            </a:pPr>
            <a:r>
              <a:rPr sz="1550" b="1">
                <a:solidFill>
                  <a:srgbClr val="F97015"/>
                </a:solidFill>
                <a:latin typeface="Arial"/>
              </a:rPr>
              <a:t>—  </a:t>
            </a:r>
            <a:r>
              <a:rPr sz="1550" b="1">
                <a:solidFill>
                  <a:srgbClr val="20142A"/>
                </a:solidFill>
                <a:latin typeface="Arial"/>
              </a:rPr>
              <a:t>A cheap model picks the top-k pages.</a:t>
            </a:r>
            <a:r>
              <a:rPr sz="1550" b="0">
                <a:solidFill>
                  <a:srgbClr val="6B5E78"/>
                </a:solidFill>
                <a:latin typeface="Arial"/>
              </a:rPr>
              <a:t>  Haiku 4.5 routes; only those pages load.</a:t>
            </a:r>
          </a:p>
          <a:p>
            <a:pPr>
              <a:lnSpc>
                <a:spcPct val="105000"/>
              </a:lnSpc>
              <a:spcBef>
                <a:spcPts val="0"/>
              </a:spcBef>
              <a:spcAft>
                <a:spcPts val="1400"/>
              </a:spcAft>
            </a:pPr>
            <a:r>
              <a:rPr sz="1550" b="1">
                <a:solidFill>
                  <a:srgbClr val="F97015"/>
                </a:solidFill>
                <a:latin typeface="Arial"/>
              </a:rPr>
              <a:t>—  </a:t>
            </a:r>
            <a:r>
              <a:rPr sz="1550" b="1">
                <a:solidFill>
                  <a:srgbClr val="20142A"/>
                </a:solidFill>
                <a:latin typeface="Arial"/>
              </a:rPr>
              <a:t>Answer from those pages — with citations.</a:t>
            </a:r>
            <a:r>
              <a:rPr sz="1550" b="0">
                <a:solidFill>
                  <a:srgbClr val="6B5E78"/>
                </a:solidFill>
                <a:latin typeface="Arial"/>
              </a:rPr>
              <a:t>  every claim links a [[page]].</a:t>
            </a:r>
          </a:p>
          <a:p>
            <a:pPr>
              <a:lnSpc>
                <a:spcPct val="105000"/>
              </a:lnSpc>
              <a:spcBef>
                <a:spcPts val="0"/>
              </a:spcBef>
              <a:spcAft>
                <a:spcPts val="1400"/>
              </a:spcAft>
            </a:pPr>
            <a:r>
              <a:rPr sz="1550" b="1">
                <a:solidFill>
                  <a:srgbClr val="F97015"/>
                </a:solidFill>
                <a:latin typeface="Arial"/>
              </a:rPr>
              <a:t>—  </a:t>
            </a:r>
            <a:r>
              <a:rPr sz="1550" b="1">
                <a:solidFill>
                  <a:srgbClr val="20142A"/>
                </a:solidFill>
                <a:latin typeface="Arial"/>
              </a:rPr>
              <a:t>Catalog is permission-filtered.</a:t>
            </a:r>
            <a:r>
              <a:rPr sz="1550" b="0">
                <a:solidFill>
                  <a:srgbClr val="6B5E78"/>
                </a:solidFill>
                <a:latin typeface="Arial"/>
              </a:rPr>
              <a:t>  you only retrieve what you may see.</a:t>
            </a:r>
          </a:p>
        </p:txBody>
      </p:sp>
      <p:sp>
        <p:nvSpPr>
          <p:cNvPr id="7" name="Rounded Rectangle 6"/>
          <p:cNvSpPr/>
          <p:nvPr/>
        </p:nvSpPr>
        <p:spPr>
          <a:xfrm>
            <a:off x="7726679" y="2331720"/>
            <a:ext cx="3913632" cy="278892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26679" y="2331720"/>
            <a:ext cx="109728" cy="2788920"/>
          </a:xfrm>
          <a:prstGeom prst="rect">
            <a:avLst/>
          </a:prstGeom>
          <a:solidFill>
            <a:srgbClr val="327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542032"/>
            <a:ext cx="3429000" cy="2468880"/>
          </a:xfrm>
          <a:prstGeom prst="rect">
            <a:avLst/>
          </a:prstGeom>
          <a:noFill/>
        </p:spPr>
        <p:txBody>
          <a:bodyPr wrap="square" anchor="t">
            <a:spAutoFit/>
          </a:bodyPr>
          <a:lstStyle/>
          <a:p>
            <a:pPr algn="l">
              <a:lnSpc>
                <a:spcPct val="100000"/>
              </a:lnSpc>
              <a:spcBef>
                <a:spcPts val="0"/>
              </a:spcBef>
              <a:spcAft>
                <a:spcPts val="500"/>
              </a:spcAft>
            </a:pPr>
            <a:r>
              <a:rPr sz="1300" b="1" i="0">
                <a:solidFill>
                  <a:srgbClr val="327DF5"/>
                </a:solidFill>
                <a:latin typeface="Arial"/>
              </a:rPr>
              <a:t>Why it matters</a:t>
            </a:r>
          </a:p>
          <a:p>
            <a:pPr algn="l">
              <a:lnSpc>
                <a:spcPct val="100000"/>
              </a:lnSpc>
              <a:spcBef>
                <a:spcPts val="0"/>
              </a:spcBef>
              <a:spcAft>
                <a:spcPts val="500"/>
              </a:spcAft>
            </a:pPr>
            <a:r>
              <a:rPr sz="1400" b="0" i="0">
                <a:solidFill>
                  <a:srgbClr val="20142A"/>
                </a:solidFill>
                <a:latin typeface="Arial"/>
              </a:rPr>
              <a:t>Context stays </a:t>
            </a:r>
            <a:r>
              <a:rPr sz="1400" b="1" i="0">
                <a:solidFill>
                  <a:srgbClr val="67269C"/>
                </a:solidFill>
                <a:latin typeface="Arial"/>
              </a:rPr>
              <a:t>bounded</a:t>
            </a:r>
          </a:p>
          <a:p>
            <a:pPr algn="l">
              <a:lnSpc>
                <a:spcPct val="100000"/>
              </a:lnSpc>
              <a:spcBef>
                <a:spcPts val="0"/>
              </a:spcBef>
              <a:spcAft>
                <a:spcPts val="500"/>
              </a:spcAft>
            </a:pPr>
            <a:r>
              <a:rPr sz="1400" b="0" i="0">
                <a:solidFill>
                  <a:srgbClr val="20142A"/>
                </a:solidFill>
                <a:latin typeface="Arial"/>
              </a:rPr>
              <a:t>as the wiki grows —</a:t>
            </a:r>
          </a:p>
          <a:p>
            <a:pPr algn="l">
              <a:lnSpc>
                <a:spcPct val="100000"/>
              </a:lnSpc>
              <a:spcBef>
                <a:spcPts val="0"/>
              </a:spcBef>
              <a:spcAft>
                <a:spcPts val="500"/>
              </a:spcAft>
            </a:pPr>
            <a:r>
              <a:rPr sz="1400" b="0" i="0">
                <a:solidFill>
                  <a:srgbClr val="20142A"/>
                </a:solidFill>
                <a:latin typeface="Arial"/>
              </a:rPr>
              <a:t>retrieval doesn't balloon</a:t>
            </a:r>
          </a:p>
          <a:p>
            <a:pPr algn="l">
              <a:lnSpc>
                <a:spcPct val="100000"/>
              </a:lnSpc>
              <a:spcBef>
                <a:spcPts val="0"/>
              </a:spcBef>
              <a:spcAft>
                <a:spcPts val="500"/>
              </a:spcAft>
            </a:pPr>
            <a:r>
              <a:rPr sz="1400" b="0" i="0">
                <a:solidFill>
                  <a:srgbClr val="20142A"/>
                </a:solidFill>
                <a:latin typeface="Arial"/>
              </a:rPr>
              <a:t>with the corpus.</a:t>
            </a:r>
          </a:p>
          <a:p>
            <a:pPr algn="l">
              <a:lnSpc>
                <a:spcPct val="100000"/>
              </a:lnSpc>
              <a:spcBef>
                <a:spcPts val="0"/>
              </a:spcBef>
              <a:spcAft>
                <a:spcPts val="500"/>
              </a:spcAft>
            </a:pPr>
            <a:r>
              <a:rPr sz="1400" b="0" i="0">
                <a:solidFill>
                  <a:srgbClr val="6B5E78"/>
                </a:solidFill>
                <a:latin typeface="Arial"/>
              </a:rPr>
              <a:t>Answers are specific,</a:t>
            </a:r>
          </a:p>
          <a:p>
            <a:pPr algn="l">
              <a:lnSpc>
                <a:spcPct val="100000"/>
              </a:lnSpc>
              <a:spcBef>
                <a:spcPts val="0"/>
              </a:spcBef>
              <a:spcAft>
                <a:spcPts val="500"/>
              </a:spcAft>
            </a:pPr>
            <a:r>
              <a:rPr sz="1400" b="0" i="0">
                <a:solidFill>
                  <a:srgbClr val="6B5E78"/>
                </a:solidFill>
                <a:latin typeface="Arial"/>
              </a:rPr>
              <a:t>not padded.</a:t>
            </a:r>
          </a:p>
        </p:txBody>
      </p:sp>
      <p:sp>
        <p:nvSpPr>
          <p:cNvPr id="10" name="TextBox 9"/>
          <p:cNvSpPr txBox="1"/>
          <p:nvPr/>
        </p:nvSpPr>
        <p:spPr>
          <a:xfrm>
            <a:off x="548640" y="6419088"/>
            <a:ext cx="7315200" cy="365760"/>
          </a:xfrm>
          <a:prstGeom prst="rect">
            <a:avLst/>
          </a:prstGeom>
          <a:noFill/>
        </p:spPr>
        <p:txBody>
          <a:bodyPr wrap="square" anchor="t">
            <a:spAutoFit/>
          </a:bodyPr>
          <a:lstStyle/>
          <a:p>
            <a:pPr algn="l">
              <a:lnSpc>
                <a:spcPct val="100000"/>
              </a:lnSpc>
              <a:spcBef>
                <a:spcPts val="0"/>
              </a:spcBef>
              <a:spcAft>
                <a:spcPts val="0"/>
              </a:spcAft>
            </a:pPr>
            <a:r>
              <a:rPr sz="950" b="0" i="0">
                <a:solidFill>
                  <a:srgbClr val="6B5E78"/>
                </a:solidFill>
                <a:latin typeface="Arial"/>
              </a:rPr>
              <a:t>KickstartAI  ·  Living Project Wiki</a:t>
            </a:r>
          </a:p>
        </p:txBody>
      </p:sp>
      <p:sp>
        <p:nvSpPr>
          <p:cNvPr id="11" name="TextBox 10"/>
          <p:cNvSpPr txBox="1"/>
          <p:nvPr/>
        </p:nvSpPr>
        <p:spPr>
          <a:xfrm>
            <a:off x="10424160" y="6419088"/>
            <a:ext cx="1280160" cy="365760"/>
          </a:xfrm>
          <a:prstGeom prst="rect">
            <a:avLst/>
          </a:prstGeom>
          <a:noFill/>
        </p:spPr>
        <p:txBody>
          <a:bodyPr wrap="square" anchor="t">
            <a:spAutoFit/>
          </a:bodyPr>
          <a:lstStyle/>
          <a:p>
            <a:pPr algn="r">
              <a:lnSpc>
                <a:spcPct val="100000"/>
              </a:lnSpc>
              <a:spcBef>
                <a:spcPts val="0"/>
              </a:spcBef>
              <a:spcAft>
                <a:spcPts val="0"/>
              </a:spcAft>
            </a:pPr>
            <a:r>
              <a:rPr sz="950" b="1" i="0">
                <a:solidFill>
                  <a:srgbClr val="67269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OPERATION 3 — LINT</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Keep the living wiki coherent</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377440"/>
            <a:ext cx="5394960" cy="676656"/>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377440"/>
            <a:ext cx="91440" cy="67665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377440"/>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Contradictions across pages</a:t>
            </a:r>
          </a:p>
        </p:txBody>
      </p:sp>
      <p:sp>
        <p:nvSpPr>
          <p:cNvPr id="9" name="Rounded Rectangle 8"/>
          <p:cNvSpPr/>
          <p:nvPr/>
        </p:nvSpPr>
        <p:spPr>
          <a:xfrm>
            <a:off x="6172200" y="2377440"/>
            <a:ext cx="5394960" cy="676656"/>
          </a:xfrm>
          <a:prstGeom prst="round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377440"/>
            <a:ext cx="91440" cy="676656"/>
          </a:xfrm>
          <a:prstGeom prst="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377440"/>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Stale / superseded content</a:t>
            </a:r>
          </a:p>
        </p:txBody>
      </p:sp>
      <p:sp>
        <p:nvSpPr>
          <p:cNvPr id="12" name="Rounded Rectangle 11"/>
          <p:cNvSpPr/>
          <p:nvPr/>
        </p:nvSpPr>
        <p:spPr>
          <a:xfrm>
            <a:off x="548640" y="3218688"/>
            <a:ext cx="5394960" cy="676656"/>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18688"/>
            <a:ext cx="91440" cy="67665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218688"/>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Orphan pages (no inbound links)</a:t>
            </a:r>
          </a:p>
        </p:txBody>
      </p:sp>
      <p:sp>
        <p:nvSpPr>
          <p:cNvPr id="15" name="Rounded Rectangle 14"/>
          <p:cNvSpPr/>
          <p:nvPr/>
        </p:nvSpPr>
        <p:spPr>
          <a:xfrm>
            <a:off x="6172200" y="3218688"/>
            <a:ext cx="5394960" cy="676656"/>
          </a:xfrm>
          <a:prstGeom prst="round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18688"/>
            <a:ext cx="91440" cy="676656"/>
          </a:xfrm>
          <a:prstGeom prst="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218688"/>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Missing concept pages</a:t>
            </a:r>
          </a:p>
        </p:txBody>
      </p:sp>
      <p:sp>
        <p:nvSpPr>
          <p:cNvPr id="18" name="Rounded Rectangle 17"/>
          <p:cNvSpPr/>
          <p:nvPr/>
        </p:nvSpPr>
        <p:spPr>
          <a:xfrm>
            <a:off x="548640" y="4059936"/>
            <a:ext cx="5394960" cy="676656"/>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059936"/>
            <a:ext cx="91440" cy="67665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059936"/>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Missing cross-references</a:t>
            </a:r>
          </a:p>
        </p:txBody>
      </p:sp>
      <p:sp>
        <p:nvSpPr>
          <p:cNvPr id="21" name="Rounded Rectangle 20"/>
          <p:cNvSpPr/>
          <p:nvPr/>
        </p:nvSpPr>
        <p:spPr>
          <a:xfrm>
            <a:off x="6172200" y="4059936"/>
            <a:ext cx="5394960" cy="676656"/>
          </a:xfrm>
          <a:prstGeom prst="round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4059936"/>
            <a:ext cx="91440" cy="676656"/>
          </a:xfrm>
          <a:prstGeom prst="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059936"/>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Under-documented decisions</a:t>
            </a:r>
          </a:p>
        </p:txBody>
      </p:sp>
      <p:sp>
        <p:nvSpPr>
          <p:cNvPr id="24" name="Rounded Rectangle 23"/>
          <p:cNvSpPr/>
          <p:nvPr/>
        </p:nvSpPr>
        <p:spPr>
          <a:xfrm>
            <a:off x="548640" y="4901184"/>
            <a:ext cx="5394960" cy="676656"/>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901184"/>
            <a:ext cx="91440" cy="67665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901184"/>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Unresolved gaps</a:t>
            </a:r>
          </a:p>
        </p:txBody>
      </p:sp>
      <p:sp>
        <p:nvSpPr>
          <p:cNvPr id="27" name="Rounded Rectangle 26"/>
          <p:cNvSpPr/>
          <p:nvPr/>
        </p:nvSpPr>
        <p:spPr>
          <a:xfrm>
            <a:off x="6172200" y="4901184"/>
            <a:ext cx="5394960" cy="676656"/>
          </a:xfrm>
          <a:prstGeom prst="round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4901184"/>
            <a:ext cx="91440" cy="676656"/>
          </a:xfrm>
          <a:prstGeom prst="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901184"/>
            <a:ext cx="5029200" cy="676656"/>
          </a:xfrm>
          <a:prstGeom prst="rect">
            <a:avLst/>
          </a:prstGeom>
          <a:noFill/>
        </p:spPr>
        <p:txBody>
          <a:bodyPr wrap="square" anchor="ctr">
            <a:spAutoFit/>
          </a:bodyPr>
          <a:lstStyle/>
          <a:p>
            <a:pPr algn="l">
              <a:lnSpc>
                <a:spcPct val="100000"/>
              </a:lnSpc>
              <a:spcBef>
                <a:spcPts val="0"/>
              </a:spcBef>
              <a:spcAft>
                <a:spcPts val="0"/>
              </a:spcAft>
            </a:pPr>
            <a:r>
              <a:rPr sz="1400" b="1" i="0">
                <a:solidFill>
                  <a:srgbClr val="20142A"/>
                </a:solidFill>
                <a:latin typeface="Arial"/>
              </a:rPr>
              <a:t>Reuse opportunities</a:t>
            </a:r>
          </a:p>
        </p:txBody>
      </p:sp>
      <p:sp>
        <p:nvSpPr>
          <p:cNvPr id="30" name="TextBox 29"/>
          <p:cNvSpPr txBox="1"/>
          <p:nvPr/>
        </p:nvSpPr>
        <p:spPr>
          <a:xfrm>
            <a:off x="548640" y="5943600"/>
            <a:ext cx="10972800" cy="457200"/>
          </a:xfrm>
          <a:prstGeom prst="rect">
            <a:avLst/>
          </a:prstGeom>
          <a:noFill/>
        </p:spPr>
        <p:txBody>
          <a:bodyPr wrap="square" anchor="t">
            <a:spAutoFit/>
          </a:bodyPr>
          <a:lstStyle/>
          <a:p>
            <a:pPr algn="l">
              <a:lnSpc>
                <a:spcPct val="100000"/>
              </a:lnSpc>
              <a:spcBef>
                <a:spcPts val="0"/>
              </a:spcBef>
              <a:spcAft>
                <a:spcPts val="0"/>
              </a:spcAft>
            </a:pPr>
            <a:r>
              <a:rPr sz="1350" b="0" i="1">
                <a:solidFill>
                  <a:srgbClr val="6B5E78"/>
                </a:solidFill>
                <a:latin typeface="Arial"/>
              </a:rPr>
              <a:t>Run periodically — turns a growing wiki into a maintained one.</a:t>
            </a:r>
          </a:p>
        </p:txBody>
      </p:sp>
      <p:sp>
        <p:nvSpPr>
          <p:cNvPr id="31" name="TextBox 30"/>
          <p:cNvSpPr txBox="1"/>
          <p:nvPr/>
        </p:nvSpPr>
        <p:spPr>
          <a:xfrm>
            <a:off x="548640" y="6419088"/>
            <a:ext cx="7315200" cy="365760"/>
          </a:xfrm>
          <a:prstGeom prst="rect">
            <a:avLst/>
          </a:prstGeom>
          <a:noFill/>
        </p:spPr>
        <p:txBody>
          <a:bodyPr wrap="square" anchor="t">
            <a:spAutoFit/>
          </a:bodyPr>
          <a:lstStyle/>
          <a:p>
            <a:pPr algn="l">
              <a:lnSpc>
                <a:spcPct val="100000"/>
              </a:lnSpc>
              <a:spcBef>
                <a:spcPts val="0"/>
              </a:spcBef>
              <a:spcAft>
                <a:spcPts val="0"/>
              </a:spcAft>
            </a:pPr>
            <a:r>
              <a:rPr sz="950" b="0" i="0">
                <a:solidFill>
                  <a:srgbClr val="6B5E78"/>
                </a:solidFill>
                <a:latin typeface="Arial"/>
              </a:rPr>
              <a:t>KickstartAI  ·  Living Project Wiki</a:t>
            </a:r>
          </a:p>
        </p:txBody>
      </p:sp>
      <p:sp>
        <p:nvSpPr>
          <p:cNvPr id="32" name="TextBox 31"/>
          <p:cNvSpPr txBox="1"/>
          <p:nvPr/>
        </p:nvSpPr>
        <p:spPr>
          <a:xfrm>
            <a:off x="10424160" y="6419088"/>
            <a:ext cx="1280160" cy="365760"/>
          </a:xfrm>
          <a:prstGeom prst="rect">
            <a:avLst/>
          </a:prstGeom>
          <a:noFill/>
        </p:spPr>
        <p:txBody>
          <a:bodyPr wrap="square" anchor="t">
            <a:spAutoFit/>
          </a:bodyPr>
          <a:lstStyle/>
          <a:p>
            <a:pPr algn="r">
              <a:lnSpc>
                <a:spcPct val="100000"/>
              </a:lnSpc>
              <a:spcBef>
                <a:spcPts val="0"/>
              </a:spcBef>
              <a:spcAft>
                <a:spcPts val="0"/>
              </a:spcAft>
            </a:pPr>
            <a:r>
              <a:rPr sz="950" b="1" i="0">
                <a:solidFill>
                  <a:srgbClr val="67269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EVALUATION  ·  THE THESIS EXPERIMENT</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Does answering from the wiki beat raw context?</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55648"/>
            <a:ext cx="5449824" cy="1024128"/>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55648"/>
            <a:ext cx="109728" cy="102412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4983480" cy="868680"/>
          </a:xfrm>
          <a:prstGeom prst="rect">
            <a:avLst/>
          </a:prstGeom>
          <a:noFill/>
        </p:spPr>
        <p:txBody>
          <a:bodyPr wrap="square" anchor="t">
            <a:spAutoFit/>
          </a:bodyPr>
          <a:lstStyle/>
          <a:p>
            <a:pPr algn="l">
              <a:lnSpc>
                <a:spcPct val="100000"/>
              </a:lnSpc>
              <a:spcBef>
                <a:spcPts val="0"/>
              </a:spcBef>
              <a:spcAft>
                <a:spcPts val="400"/>
              </a:spcAft>
            </a:pPr>
            <a:r>
              <a:rPr sz="1350" b="1" i="0">
                <a:solidFill>
                  <a:srgbClr val="F97015"/>
                </a:solidFill>
                <a:latin typeface="Arial"/>
              </a:rPr>
              <a:t>H1 · Quality</a:t>
            </a:r>
          </a:p>
          <a:p>
            <a:pPr algn="l">
              <a:lnSpc>
                <a:spcPct val="100000"/>
              </a:lnSpc>
              <a:spcBef>
                <a:spcPts val="0"/>
              </a:spcBef>
              <a:spcAft>
                <a:spcPts val="400"/>
              </a:spcAft>
            </a:pPr>
            <a:r>
              <a:rPr sz="1200" b="0" i="0">
                <a:solidFill>
                  <a:srgbClr val="20142A"/>
                </a:solidFill>
                <a:latin typeface="Arial"/>
              </a:rPr>
              <a:t>More correct answers — and correct refusals on questions the sources can't answer.</a:t>
            </a:r>
          </a:p>
        </p:txBody>
      </p:sp>
      <p:sp>
        <p:nvSpPr>
          <p:cNvPr id="9" name="Rounded Rectangle 8"/>
          <p:cNvSpPr/>
          <p:nvPr/>
        </p:nvSpPr>
        <p:spPr>
          <a:xfrm>
            <a:off x="6190488" y="1755648"/>
            <a:ext cx="5449824" cy="1024128"/>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0488" y="1755648"/>
            <a:ext cx="109728" cy="1024128"/>
          </a:xfrm>
          <a:prstGeom prst="rect">
            <a:avLst/>
          </a:prstGeom>
          <a:solidFill>
            <a:srgbClr val="327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847088"/>
            <a:ext cx="4983480" cy="868680"/>
          </a:xfrm>
          <a:prstGeom prst="rect">
            <a:avLst/>
          </a:prstGeom>
          <a:noFill/>
        </p:spPr>
        <p:txBody>
          <a:bodyPr wrap="square" anchor="t">
            <a:spAutoFit/>
          </a:bodyPr>
          <a:lstStyle/>
          <a:p>
            <a:pPr algn="l">
              <a:lnSpc>
                <a:spcPct val="100000"/>
              </a:lnSpc>
              <a:spcBef>
                <a:spcPts val="0"/>
              </a:spcBef>
              <a:spcAft>
                <a:spcPts val="400"/>
              </a:spcAft>
            </a:pPr>
            <a:r>
              <a:rPr sz="1350" b="1" i="0">
                <a:solidFill>
                  <a:srgbClr val="327DF5"/>
                </a:solidFill>
                <a:latin typeface="Arial"/>
              </a:rPr>
              <a:t>H2 · Cost &amp; scale</a:t>
            </a:r>
          </a:p>
          <a:p>
            <a:pPr algn="l">
              <a:lnSpc>
                <a:spcPct val="100000"/>
              </a:lnSpc>
              <a:spcBef>
                <a:spcPts val="0"/>
              </a:spcBef>
              <a:spcAft>
                <a:spcPts val="400"/>
              </a:spcAft>
            </a:pPr>
            <a:r>
              <a:rPr sz="1200" b="0" i="0">
                <a:solidFill>
                  <a:srgbClr val="20142A"/>
                </a:solidFill>
                <a:latin typeface="Arial"/>
              </a:rPr>
              <a:t>Far fewer tokens per answer — and the gap widens as the corpus grows.</a:t>
            </a:r>
          </a:p>
        </p:txBody>
      </p:sp>
      <p:sp>
        <p:nvSpPr>
          <p:cNvPr id="12" name="TextBox 11"/>
          <p:cNvSpPr txBox="1"/>
          <p:nvPr/>
        </p:nvSpPr>
        <p:spPr>
          <a:xfrm>
            <a:off x="548640" y="2926080"/>
            <a:ext cx="10972800" cy="365760"/>
          </a:xfrm>
          <a:prstGeom prst="rect">
            <a:avLst/>
          </a:prstGeom>
          <a:noFill/>
        </p:spPr>
        <p:txBody>
          <a:bodyPr wrap="square" anchor="t">
            <a:spAutoFit/>
          </a:bodyPr>
          <a:lstStyle/>
          <a:p>
            <a:pPr algn="l">
              <a:lnSpc>
                <a:spcPct val="100000"/>
              </a:lnSpc>
              <a:spcBef>
                <a:spcPts val="0"/>
              </a:spcBef>
              <a:spcAft>
                <a:spcPts val="0"/>
              </a:spcAft>
            </a:pPr>
            <a:r>
              <a:rPr sz="1250" b="1" i="0">
                <a:solidFill>
                  <a:srgbClr val="67269C"/>
                </a:solidFill>
                <a:latin typeface="Arial"/>
              </a:rPr>
              <a:t>Four conditions — same answer model &amp; prompt; only the context differs</a:t>
            </a:r>
          </a:p>
        </p:txBody>
      </p:sp>
      <p:sp>
        <p:nvSpPr>
          <p:cNvPr id="13" name="Rectangle 12"/>
          <p:cNvSpPr/>
          <p:nvPr/>
        </p:nvSpPr>
        <p:spPr>
          <a:xfrm>
            <a:off x="548640" y="3291840"/>
            <a:ext cx="11091672" cy="365760"/>
          </a:xfrm>
          <a:prstGeom prst="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291840"/>
            <a:ext cx="868680" cy="365760"/>
          </a:xfrm>
          <a:prstGeom prst="rect">
            <a:avLst/>
          </a:prstGeom>
          <a:noFill/>
        </p:spPr>
        <p:txBody>
          <a:bodyPr wrap="square" anchor="ctr">
            <a:spAutoFit/>
          </a:bodyPr>
          <a:lstStyle/>
          <a:p>
            <a:pPr algn="ctr">
              <a:lnSpc>
                <a:spcPct val="100000"/>
              </a:lnSpc>
              <a:spcBef>
                <a:spcPts val="0"/>
              </a:spcBef>
              <a:spcAft>
                <a:spcPts val="0"/>
              </a:spcAft>
            </a:pPr>
            <a:r>
              <a:rPr sz="1150" b="1" i="0">
                <a:solidFill>
                  <a:srgbClr val="FFFFFF"/>
                </a:solidFill>
                <a:latin typeface="Arial"/>
              </a:rPr>
              <a:t>ID</a:t>
            </a:r>
          </a:p>
        </p:txBody>
      </p:sp>
      <p:sp>
        <p:nvSpPr>
          <p:cNvPr id="15" name="TextBox 14"/>
          <p:cNvSpPr txBox="1"/>
          <p:nvPr/>
        </p:nvSpPr>
        <p:spPr>
          <a:xfrm>
            <a:off x="1783080" y="3291840"/>
            <a:ext cx="3931920" cy="365760"/>
          </a:xfrm>
          <a:prstGeom prst="rect">
            <a:avLst/>
          </a:prstGeom>
          <a:noFill/>
        </p:spPr>
        <p:txBody>
          <a:bodyPr wrap="square" anchor="ctr">
            <a:spAutoFit/>
          </a:bodyPr>
          <a:lstStyle/>
          <a:p>
            <a:pPr algn="l">
              <a:lnSpc>
                <a:spcPct val="100000"/>
              </a:lnSpc>
              <a:spcBef>
                <a:spcPts val="0"/>
              </a:spcBef>
              <a:spcAft>
                <a:spcPts val="0"/>
              </a:spcAft>
            </a:pPr>
            <a:r>
              <a:rPr sz="1150" b="1" i="0">
                <a:solidFill>
                  <a:srgbClr val="FFFFFF"/>
                </a:solidFill>
                <a:latin typeface="Arial"/>
              </a:rPr>
              <a:t>Context fed</a:t>
            </a:r>
          </a:p>
        </p:txBody>
      </p:sp>
      <p:sp>
        <p:nvSpPr>
          <p:cNvPr id="16" name="TextBox 15"/>
          <p:cNvSpPr txBox="1"/>
          <p:nvPr/>
        </p:nvSpPr>
        <p:spPr>
          <a:xfrm>
            <a:off x="5806440" y="3291840"/>
            <a:ext cx="5669280" cy="365760"/>
          </a:xfrm>
          <a:prstGeom prst="rect">
            <a:avLst/>
          </a:prstGeom>
          <a:noFill/>
        </p:spPr>
        <p:txBody>
          <a:bodyPr wrap="square" anchor="ctr">
            <a:spAutoFit/>
          </a:bodyPr>
          <a:lstStyle/>
          <a:p>
            <a:pPr algn="l">
              <a:lnSpc>
                <a:spcPct val="100000"/>
              </a:lnSpc>
              <a:spcBef>
                <a:spcPts val="0"/>
              </a:spcBef>
              <a:spcAft>
                <a:spcPts val="0"/>
              </a:spcAft>
            </a:pPr>
            <a:r>
              <a:rPr sz="1150" b="1" i="0">
                <a:solidFill>
                  <a:srgbClr val="FFFFFF"/>
                </a:solidFill>
                <a:latin typeface="Arial"/>
              </a:rPr>
              <a:t>What it represents</a:t>
            </a:r>
          </a:p>
        </p:txBody>
      </p:sp>
      <p:sp>
        <p:nvSpPr>
          <p:cNvPr id="17" name="Rectangle 16"/>
          <p:cNvSpPr/>
          <p:nvPr/>
        </p:nvSpPr>
        <p:spPr>
          <a:xfrm>
            <a:off x="548640" y="3675887"/>
            <a:ext cx="11091672" cy="402336"/>
          </a:xfrm>
          <a:prstGeom prst="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3739896"/>
            <a:ext cx="868680" cy="274320"/>
          </a:xfrm>
          <a:prstGeom prst="roundRect">
            <a:avLst/>
          </a:prstGeom>
          <a:solidFill>
            <a:srgbClr val="6B5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721607"/>
            <a:ext cx="868680" cy="310896"/>
          </a:xfrm>
          <a:prstGeom prst="rect">
            <a:avLst/>
          </a:prstGeom>
          <a:noFill/>
        </p:spPr>
        <p:txBody>
          <a:bodyPr wrap="square" anchor="ctr">
            <a:spAutoFit/>
          </a:bodyPr>
          <a:lstStyle/>
          <a:p>
            <a:pPr algn="ctr">
              <a:lnSpc>
                <a:spcPct val="100000"/>
              </a:lnSpc>
              <a:spcBef>
                <a:spcPts val="0"/>
              </a:spcBef>
              <a:spcAft>
                <a:spcPts val="0"/>
              </a:spcAft>
            </a:pPr>
            <a:r>
              <a:rPr sz="1200" b="1" i="0">
                <a:solidFill>
                  <a:srgbClr val="FFFFFF"/>
                </a:solidFill>
                <a:latin typeface="Arial"/>
              </a:rPr>
              <a:t>C0</a:t>
            </a:r>
          </a:p>
        </p:txBody>
      </p:sp>
      <p:sp>
        <p:nvSpPr>
          <p:cNvPr id="20" name="TextBox 19"/>
          <p:cNvSpPr txBox="1"/>
          <p:nvPr/>
        </p:nvSpPr>
        <p:spPr>
          <a:xfrm>
            <a:off x="1783080" y="3675887"/>
            <a:ext cx="3931920" cy="402336"/>
          </a:xfrm>
          <a:prstGeom prst="rect">
            <a:avLst/>
          </a:prstGeom>
          <a:noFill/>
        </p:spPr>
        <p:txBody>
          <a:bodyPr wrap="square" anchor="ctr">
            <a:spAutoFit/>
          </a:bodyPr>
          <a:lstStyle/>
          <a:p>
            <a:pPr algn="l">
              <a:lnSpc>
                <a:spcPct val="100000"/>
              </a:lnSpc>
              <a:spcBef>
                <a:spcPts val="0"/>
              </a:spcBef>
              <a:spcAft>
                <a:spcPts val="0"/>
              </a:spcAft>
            </a:pPr>
            <a:r>
              <a:rPr sz="1250" b="0" i="0">
                <a:solidFill>
                  <a:srgbClr val="20142A"/>
                </a:solidFill>
                <a:latin typeface="Arial"/>
              </a:rPr>
              <a:t>no context</a:t>
            </a:r>
          </a:p>
        </p:txBody>
      </p:sp>
      <p:sp>
        <p:nvSpPr>
          <p:cNvPr id="21" name="TextBox 20"/>
          <p:cNvSpPr txBox="1"/>
          <p:nvPr/>
        </p:nvSpPr>
        <p:spPr>
          <a:xfrm>
            <a:off x="5806440" y="3675887"/>
            <a:ext cx="5669280" cy="402336"/>
          </a:xfrm>
          <a:prstGeom prst="rect">
            <a:avLst/>
          </a:prstGeom>
          <a:noFill/>
        </p:spPr>
        <p:txBody>
          <a:bodyPr wrap="square" anchor="ctr">
            <a:spAutoFit/>
          </a:bodyPr>
          <a:lstStyle/>
          <a:p>
            <a:pPr algn="l">
              <a:lnSpc>
                <a:spcPct val="100000"/>
              </a:lnSpc>
              <a:spcBef>
                <a:spcPts val="0"/>
              </a:spcBef>
              <a:spcAft>
                <a:spcPts val="0"/>
              </a:spcAft>
            </a:pPr>
            <a:r>
              <a:rPr sz="1250" b="0" i="0">
                <a:solidFill>
                  <a:srgbClr val="6B5E78"/>
                </a:solidFill>
                <a:latin typeface="Arial"/>
              </a:rPr>
              <a:t>closed-book floor — the hallucination baseline</a:t>
            </a:r>
          </a:p>
        </p:txBody>
      </p:sp>
      <p:sp>
        <p:nvSpPr>
          <p:cNvPr id="22" name="Rectangle 21"/>
          <p:cNvSpPr/>
          <p:nvPr/>
        </p:nvSpPr>
        <p:spPr>
          <a:xfrm>
            <a:off x="548640" y="4096511"/>
            <a:ext cx="11091672"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4160520"/>
            <a:ext cx="868680" cy="274320"/>
          </a:xfrm>
          <a:prstGeom prst="round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142231"/>
            <a:ext cx="868680" cy="310896"/>
          </a:xfrm>
          <a:prstGeom prst="rect">
            <a:avLst/>
          </a:prstGeom>
          <a:noFill/>
        </p:spPr>
        <p:txBody>
          <a:bodyPr wrap="square" anchor="ctr">
            <a:spAutoFit/>
          </a:bodyPr>
          <a:lstStyle/>
          <a:p>
            <a:pPr algn="ctr">
              <a:lnSpc>
                <a:spcPct val="100000"/>
              </a:lnSpc>
              <a:spcBef>
                <a:spcPts val="0"/>
              </a:spcBef>
              <a:spcAft>
                <a:spcPts val="0"/>
              </a:spcAft>
            </a:pPr>
            <a:r>
              <a:rPr sz="1200" b="1" i="0">
                <a:solidFill>
                  <a:srgbClr val="FFFFFF"/>
                </a:solidFill>
                <a:latin typeface="Arial"/>
              </a:rPr>
              <a:t>C1</a:t>
            </a:r>
          </a:p>
        </p:txBody>
      </p:sp>
      <p:sp>
        <p:nvSpPr>
          <p:cNvPr id="25" name="TextBox 24"/>
          <p:cNvSpPr txBox="1"/>
          <p:nvPr/>
        </p:nvSpPr>
        <p:spPr>
          <a:xfrm>
            <a:off x="1783080" y="4096511"/>
            <a:ext cx="3931920" cy="402336"/>
          </a:xfrm>
          <a:prstGeom prst="rect">
            <a:avLst/>
          </a:prstGeom>
          <a:noFill/>
        </p:spPr>
        <p:txBody>
          <a:bodyPr wrap="square" anchor="ctr">
            <a:spAutoFit/>
          </a:bodyPr>
          <a:lstStyle/>
          <a:p>
            <a:pPr algn="l">
              <a:lnSpc>
                <a:spcPct val="100000"/>
              </a:lnSpc>
              <a:spcBef>
                <a:spcPts val="0"/>
              </a:spcBef>
              <a:spcAft>
                <a:spcPts val="0"/>
              </a:spcAft>
            </a:pPr>
            <a:r>
              <a:rPr sz="1250" b="0" i="0">
                <a:solidFill>
                  <a:srgbClr val="20142A"/>
                </a:solidFill>
                <a:latin typeface="Arial"/>
              </a:rPr>
              <a:t>all raw .md sources dumped in</a:t>
            </a:r>
          </a:p>
        </p:txBody>
      </p:sp>
      <p:sp>
        <p:nvSpPr>
          <p:cNvPr id="26" name="TextBox 25"/>
          <p:cNvSpPr txBox="1"/>
          <p:nvPr/>
        </p:nvSpPr>
        <p:spPr>
          <a:xfrm>
            <a:off x="5806440" y="4096511"/>
            <a:ext cx="5669280" cy="402336"/>
          </a:xfrm>
          <a:prstGeom prst="rect">
            <a:avLst/>
          </a:prstGeom>
          <a:noFill/>
        </p:spPr>
        <p:txBody>
          <a:bodyPr wrap="square" anchor="ctr">
            <a:spAutoFit/>
          </a:bodyPr>
          <a:lstStyle/>
          <a:p>
            <a:pPr algn="l">
              <a:lnSpc>
                <a:spcPct val="100000"/>
              </a:lnSpc>
              <a:spcBef>
                <a:spcPts val="0"/>
              </a:spcBef>
              <a:spcAft>
                <a:spcPts val="0"/>
              </a:spcAft>
            </a:pPr>
            <a:r>
              <a:rPr sz="1250" b="0" i="0">
                <a:solidFill>
                  <a:srgbClr val="6B5E78"/>
                </a:solidFill>
                <a:latin typeface="Arial"/>
              </a:rPr>
              <a:t>“feed it everything, every time”</a:t>
            </a:r>
          </a:p>
        </p:txBody>
      </p:sp>
      <p:sp>
        <p:nvSpPr>
          <p:cNvPr id="27" name="Rectangle 26"/>
          <p:cNvSpPr/>
          <p:nvPr/>
        </p:nvSpPr>
        <p:spPr>
          <a:xfrm>
            <a:off x="548640" y="4517136"/>
            <a:ext cx="11091672" cy="402336"/>
          </a:xfrm>
          <a:prstGeom prst="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581144"/>
            <a:ext cx="868680" cy="274320"/>
          </a:xfrm>
          <a:prstGeom prst="round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562855"/>
            <a:ext cx="868680" cy="310896"/>
          </a:xfrm>
          <a:prstGeom prst="rect">
            <a:avLst/>
          </a:prstGeom>
          <a:noFill/>
        </p:spPr>
        <p:txBody>
          <a:bodyPr wrap="square" anchor="ctr">
            <a:spAutoFit/>
          </a:bodyPr>
          <a:lstStyle/>
          <a:p>
            <a:pPr algn="ctr">
              <a:lnSpc>
                <a:spcPct val="100000"/>
              </a:lnSpc>
              <a:spcBef>
                <a:spcPts val="0"/>
              </a:spcBef>
              <a:spcAft>
                <a:spcPts val="0"/>
              </a:spcAft>
            </a:pPr>
            <a:r>
              <a:rPr sz="1200" b="1" i="0">
                <a:solidFill>
                  <a:srgbClr val="FFFFFF"/>
                </a:solidFill>
                <a:latin typeface="Arial"/>
              </a:rPr>
              <a:t>C1r</a:t>
            </a:r>
          </a:p>
        </p:txBody>
      </p:sp>
      <p:sp>
        <p:nvSpPr>
          <p:cNvPr id="30" name="TextBox 29"/>
          <p:cNvSpPr txBox="1"/>
          <p:nvPr/>
        </p:nvSpPr>
        <p:spPr>
          <a:xfrm>
            <a:off x="1783080" y="4517136"/>
            <a:ext cx="3931920" cy="402336"/>
          </a:xfrm>
          <a:prstGeom prst="rect">
            <a:avLst/>
          </a:prstGeom>
          <a:noFill/>
        </p:spPr>
        <p:txBody>
          <a:bodyPr wrap="square" anchor="ctr">
            <a:spAutoFit/>
          </a:bodyPr>
          <a:lstStyle/>
          <a:p>
            <a:pPr algn="l">
              <a:lnSpc>
                <a:spcPct val="100000"/>
              </a:lnSpc>
              <a:spcBef>
                <a:spcPts val="0"/>
              </a:spcBef>
              <a:spcAft>
                <a:spcPts val="0"/>
              </a:spcAft>
            </a:pPr>
            <a:r>
              <a:rPr sz="1250" b="0" i="0">
                <a:solidFill>
                  <a:srgbClr val="20142A"/>
                </a:solidFill>
                <a:latin typeface="Arial"/>
              </a:rPr>
              <a:t>top-k retrieved raw chunks</a:t>
            </a:r>
          </a:p>
        </p:txBody>
      </p:sp>
      <p:sp>
        <p:nvSpPr>
          <p:cNvPr id="31" name="TextBox 30"/>
          <p:cNvSpPr txBox="1"/>
          <p:nvPr/>
        </p:nvSpPr>
        <p:spPr>
          <a:xfrm>
            <a:off x="5806440" y="4517136"/>
            <a:ext cx="5669280" cy="402336"/>
          </a:xfrm>
          <a:prstGeom prst="rect">
            <a:avLst/>
          </a:prstGeom>
          <a:noFill/>
        </p:spPr>
        <p:txBody>
          <a:bodyPr wrap="square" anchor="ctr">
            <a:spAutoFit/>
          </a:bodyPr>
          <a:lstStyle/>
          <a:p>
            <a:pPr algn="l">
              <a:lnSpc>
                <a:spcPct val="100000"/>
              </a:lnSpc>
              <a:spcBef>
                <a:spcPts val="0"/>
              </a:spcBef>
              <a:spcAft>
                <a:spcPts val="0"/>
              </a:spcAft>
            </a:pPr>
            <a:r>
              <a:rPr sz="1250" b="0" i="0">
                <a:solidFill>
                  <a:srgbClr val="6B5E78"/>
                </a:solidFill>
                <a:latin typeface="Arial"/>
              </a:rPr>
              <a:t>raw source  +  retrieval</a:t>
            </a:r>
          </a:p>
        </p:txBody>
      </p:sp>
      <p:sp>
        <p:nvSpPr>
          <p:cNvPr id="32" name="Rectangle 31"/>
          <p:cNvSpPr/>
          <p:nvPr/>
        </p:nvSpPr>
        <p:spPr>
          <a:xfrm>
            <a:off x="548640" y="4937759"/>
            <a:ext cx="11091672" cy="402336"/>
          </a:xfrm>
          <a:prstGeom prst="rect">
            <a:avLst/>
          </a:prstGeom>
          <a:solidFill>
            <a:srgbClr val="FFE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13232" y="5001768"/>
            <a:ext cx="868680" cy="274320"/>
          </a:xfrm>
          <a:prstGeom prst="round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983479"/>
            <a:ext cx="868680" cy="310896"/>
          </a:xfrm>
          <a:prstGeom prst="rect">
            <a:avLst/>
          </a:prstGeom>
          <a:noFill/>
        </p:spPr>
        <p:txBody>
          <a:bodyPr wrap="square" anchor="ctr">
            <a:spAutoFit/>
          </a:bodyPr>
          <a:lstStyle/>
          <a:p>
            <a:pPr algn="ctr">
              <a:lnSpc>
                <a:spcPct val="100000"/>
              </a:lnSpc>
              <a:spcBef>
                <a:spcPts val="0"/>
              </a:spcBef>
              <a:spcAft>
                <a:spcPts val="0"/>
              </a:spcAft>
            </a:pPr>
            <a:r>
              <a:rPr sz="1200" b="1" i="0">
                <a:solidFill>
                  <a:srgbClr val="FFFFFF"/>
                </a:solidFill>
                <a:latin typeface="Arial"/>
              </a:rPr>
              <a:t>C2</a:t>
            </a:r>
          </a:p>
        </p:txBody>
      </p:sp>
      <p:sp>
        <p:nvSpPr>
          <p:cNvPr id="35" name="TextBox 34"/>
          <p:cNvSpPr txBox="1"/>
          <p:nvPr/>
        </p:nvSpPr>
        <p:spPr>
          <a:xfrm>
            <a:off x="1783080" y="4937759"/>
            <a:ext cx="3931920" cy="402336"/>
          </a:xfrm>
          <a:prstGeom prst="rect">
            <a:avLst/>
          </a:prstGeom>
          <a:noFill/>
        </p:spPr>
        <p:txBody>
          <a:bodyPr wrap="square" anchor="ctr">
            <a:spAutoFit/>
          </a:bodyPr>
          <a:lstStyle/>
          <a:p>
            <a:pPr algn="l">
              <a:lnSpc>
                <a:spcPct val="100000"/>
              </a:lnSpc>
              <a:spcBef>
                <a:spcPts val="0"/>
              </a:spcBef>
              <a:spcAft>
                <a:spcPts val="0"/>
              </a:spcAft>
            </a:pPr>
            <a:r>
              <a:rPr sz="1250" b="1" i="0">
                <a:solidFill>
                  <a:srgbClr val="20142A"/>
                </a:solidFill>
                <a:latin typeface="Arial"/>
              </a:rPr>
              <a:t>top-k retrieved wiki pages</a:t>
            </a:r>
          </a:p>
        </p:txBody>
      </p:sp>
      <p:sp>
        <p:nvSpPr>
          <p:cNvPr id="36" name="TextBox 35"/>
          <p:cNvSpPr txBox="1"/>
          <p:nvPr/>
        </p:nvSpPr>
        <p:spPr>
          <a:xfrm>
            <a:off x="5806440" y="4937759"/>
            <a:ext cx="5669280" cy="402336"/>
          </a:xfrm>
          <a:prstGeom prst="rect">
            <a:avLst/>
          </a:prstGeom>
          <a:noFill/>
        </p:spPr>
        <p:txBody>
          <a:bodyPr wrap="square" anchor="ctr">
            <a:spAutoFit/>
          </a:bodyPr>
          <a:lstStyle/>
          <a:p>
            <a:pPr algn="l">
              <a:lnSpc>
                <a:spcPct val="100000"/>
              </a:lnSpc>
              <a:spcBef>
                <a:spcPts val="0"/>
              </a:spcBef>
              <a:spcAft>
                <a:spcPts val="0"/>
              </a:spcAft>
            </a:pPr>
            <a:r>
              <a:rPr sz="1250" b="1" i="0">
                <a:solidFill>
                  <a:srgbClr val="20142A"/>
                </a:solidFill>
                <a:latin typeface="Arial"/>
              </a:rPr>
              <a:t>the artifact — the compiled wiki</a:t>
            </a:r>
          </a:p>
        </p:txBody>
      </p:sp>
      <p:sp>
        <p:nvSpPr>
          <p:cNvPr id="37" name="Rounded Rectangle 36"/>
          <p:cNvSpPr/>
          <p:nvPr/>
        </p:nvSpPr>
        <p:spPr>
          <a:xfrm>
            <a:off x="548640" y="5532120"/>
            <a:ext cx="11091672" cy="896112"/>
          </a:xfrm>
          <a:prstGeom prst="roundRect">
            <a:avLst/>
          </a:prstGeom>
          <a:solidFill>
            <a:srgbClr val="290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632704"/>
            <a:ext cx="10607040" cy="731520"/>
          </a:xfrm>
          <a:prstGeom prst="rect">
            <a:avLst/>
          </a:prstGeom>
          <a:noFill/>
        </p:spPr>
        <p:txBody>
          <a:bodyPr wrap="square" anchor="t">
            <a:spAutoFit/>
          </a:bodyPr>
          <a:lstStyle/>
          <a:p>
            <a:pPr algn="l">
              <a:lnSpc>
                <a:spcPct val="100000"/>
              </a:lnSpc>
              <a:spcBef>
                <a:spcPts val="0"/>
              </a:spcBef>
              <a:spcAft>
                <a:spcPts val="500"/>
              </a:spcAft>
            </a:pPr>
            <a:r>
              <a:rPr sz="1250" b="1" i="0">
                <a:solidFill>
                  <a:srgbClr val="F97015"/>
                </a:solidFill>
                <a:latin typeface="Arial"/>
              </a:rPr>
              <a:t>Headline:  </a:t>
            </a:r>
            <a:r>
              <a:rPr sz="1250" b="0" i="0">
                <a:solidFill>
                  <a:srgbClr val="FFFFFF"/>
                </a:solidFill>
                <a:latin typeface="Arial"/>
              </a:rPr>
              <a:t>C1r vs C2 = the wiki's value (retrieval held constant)   ·   C1 vs C1r = retrieval alone   ·   C0 = floor</a:t>
            </a:r>
          </a:p>
          <a:p>
            <a:pPr algn="l">
              <a:lnSpc>
                <a:spcPct val="100000"/>
              </a:lnSpc>
              <a:spcBef>
                <a:spcPts val="0"/>
              </a:spcBef>
              <a:spcAft>
                <a:spcPts val="500"/>
              </a:spcAft>
            </a:pPr>
            <a:r>
              <a:rPr sz="1150" b="0" i="0">
                <a:solidFill>
                  <a:srgbClr val="D0C4E2"/>
                </a:solidFill>
                <a:latin typeface="Arial"/>
              </a:rPr>
              <a:t>Same answer model &amp; prompt; a separate model judges.   Correctness = primary outcome;  faithfulness = a diagnostic.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EVALUATION  ·  METRICS</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How we measure it</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6903720" cy="4572000"/>
          </a:xfrm>
          <a:prstGeom prst="rect">
            <a:avLst/>
          </a:prstGeom>
          <a:noFill/>
        </p:spPr>
        <p:txBody>
          <a:bodyPr wrap="square">
            <a:spAutoFit/>
          </a:bodyPr>
          <a:lstStyle/>
          <a:p>
            <a:pPr>
              <a:lnSpc>
                <a:spcPct val="105000"/>
              </a:lnSpc>
              <a:spcBef>
                <a:spcPts val="0"/>
              </a:spcBef>
              <a:spcAft>
                <a:spcPts val="800"/>
              </a:spcAft>
            </a:pPr>
            <a:r>
              <a:rPr sz="1350" b="1">
                <a:solidFill>
                  <a:srgbClr val="F97015"/>
                </a:solidFill>
                <a:latin typeface="Arial"/>
              </a:rPr>
              <a:t>—  </a:t>
            </a:r>
            <a:r>
              <a:rPr sz="1350" b="1">
                <a:solidFill>
                  <a:srgbClr val="20142A"/>
                </a:solidFill>
                <a:latin typeface="Arial"/>
              </a:rPr>
              <a:t>Correctness  (primary)</a:t>
            </a:r>
            <a:r>
              <a:rPr sz="1350" b="0">
                <a:solidFill>
                  <a:srgbClr val="6B5E78"/>
                </a:solidFill>
                <a:latin typeface="Arial"/>
              </a:rPr>
              <a:t>  vs a human-written reference — is the answer factually right?</a:t>
            </a:r>
          </a:p>
          <a:p>
            <a:pPr>
              <a:lnSpc>
                <a:spcPct val="105000"/>
              </a:lnSpc>
              <a:spcBef>
                <a:spcPts val="0"/>
              </a:spcBef>
              <a:spcAft>
                <a:spcPts val="800"/>
              </a:spcAft>
            </a:pPr>
            <a:r>
              <a:rPr sz="1350" b="1">
                <a:solidFill>
                  <a:srgbClr val="F97015"/>
                </a:solidFill>
                <a:latin typeface="Arial"/>
              </a:rPr>
              <a:t>—  </a:t>
            </a:r>
            <a:r>
              <a:rPr sz="1350" b="1">
                <a:solidFill>
                  <a:srgbClr val="20142A"/>
                </a:solidFill>
                <a:latin typeface="Arial"/>
              </a:rPr>
              <a:t>Faithfulness  (diagnostic)</a:t>
            </a:r>
            <a:r>
              <a:rPr sz="1350" b="0">
                <a:solidFill>
                  <a:srgbClr val="6B5E78"/>
                </a:solidFill>
                <a:latin typeface="Arial"/>
              </a:rPr>
              <a:t>  grounded in the context it was given — not the same as correct.</a:t>
            </a:r>
          </a:p>
          <a:p>
            <a:pPr>
              <a:lnSpc>
                <a:spcPct val="105000"/>
              </a:lnSpc>
              <a:spcBef>
                <a:spcPts val="0"/>
              </a:spcBef>
              <a:spcAft>
                <a:spcPts val="800"/>
              </a:spcAft>
            </a:pPr>
            <a:r>
              <a:rPr sz="1350" b="1">
                <a:solidFill>
                  <a:srgbClr val="F97015"/>
                </a:solidFill>
                <a:latin typeface="Arial"/>
              </a:rPr>
              <a:t>—  </a:t>
            </a:r>
            <a:r>
              <a:rPr sz="1350" b="1">
                <a:solidFill>
                  <a:srgbClr val="20142A"/>
                </a:solidFill>
                <a:latin typeface="Arial"/>
              </a:rPr>
              <a:t>Answer relevancy</a:t>
            </a:r>
            <a:r>
              <a:rPr sz="1350" b="0">
                <a:solidFill>
                  <a:srgbClr val="6B5E78"/>
                </a:solidFill>
                <a:latin typeface="Arial"/>
              </a:rPr>
              <a:t>  does the answer actually address the question?</a:t>
            </a:r>
          </a:p>
          <a:p>
            <a:pPr>
              <a:lnSpc>
                <a:spcPct val="105000"/>
              </a:lnSpc>
              <a:spcBef>
                <a:spcPts val="0"/>
              </a:spcBef>
              <a:spcAft>
                <a:spcPts val="800"/>
              </a:spcAft>
            </a:pPr>
            <a:r>
              <a:rPr sz="1350" b="1">
                <a:solidFill>
                  <a:srgbClr val="F97015"/>
                </a:solidFill>
                <a:latin typeface="Arial"/>
              </a:rPr>
              <a:t>—  </a:t>
            </a:r>
            <a:r>
              <a:rPr sz="1350" b="1">
                <a:solidFill>
                  <a:srgbClr val="20142A"/>
                </a:solidFill>
                <a:latin typeface="Arial"/>
              </a:rPr>
              <a:t>Contextual recall  (C1r / C2)</a:t>
            </a:r>
            <a:r>
              <a:rPr sz="1350" b="0">
                <a:solidFill>
                  <a:srgbClr val="6B5E78"/>
                </a:solidFill>
                <a:latin typeface="Arial"/>
              </a:rPr>
              <a:t>  did retrieval fetch what the answer needed?</a:t>
            </a:r>
          </a:p>
          <a:p>
            <a:pPr>
              <a:lnSpc>
                <a:spcPct val="105000"/>
              </a:lnSpc>
              <a:spcBef>
                <a:spcPts val="0"/>
              </a:spcBef>
              <a:spcAft>
                <a:spcPts val="800"/>
              </a:spcAft>
            </a:pPr>
            <a:r>
              <a:rPr sz="1350" b="1">
                <a:solidFill>
                  <a:srgbClr val="F97015"/>
                </a:solidFill>
                <a:latin typeface="Arial"/>
              </a:rPr>
              <a:t>—  </a:t>
            </a:r>
            <a:r>
              <a:rPr sz="1350" b="1">
                <a:solidFill>
                  <a:srgbClr val="20142A"/>
                </a:solidFill>
                <a:latin typeface="Arial"/>
              </a:rPr>
              <a:t>Abstention  (T3)</a:t>
            </a:r>
            <a:r>
              <a:rPr sz="1350" b="0">
                <a:solidFill>
                  <a:srgbClr val="6B5E78"/>
                </a:solidFill>
                <a:latin typeface="Arial"/>
              </a:rPr>
              <a:t>  does it correctly decline when the answer isn't in the sources?</a:t>
            </a:r>
          </a:p>
          <a:p>
            <a:pPr>
              <a:lnSpc>
                <a:spcPct val="105000"/>
              </a:lnSpc>
              <a:spcBef>
                <a:spcPts val="0"/>
              </a:spcBef>
              <a:spcAft>
                <a:spcPts val="800"/>
              </a:spcAft>
            </a:pPr>
            <a:r>
              <a:rPr sz="1350" b="1">
                <a:solidFill>
                  <a:srgbClr val="F97015"/>
                </a:solidFill>
                <a:latin typeface="Arial"/>
              </a:rPr>
              <a:t>—  </a:t>
            </a:r>
            <a:r>
              <a:rPr sz="1350" b="1">
                <a:solidFill>
                  <a:srgbClr val="20142A"/>
                </a:solidFill>
                <a:latin typeface="Arial"/>
              </a:rPr>
              <a:t>Tokens fed  (cost · H2)</a:t>
            </a:r>
            <a:r>
              <a:rPr sz="1350" b="0">
                <a:solidFill>
                  <a:srgbClr val="6B5E78"/>
                </a:solidFill>
                <a:latin typeface="Arial"/>
              </a:rPr>
              <a:t>  context size per answer → the scaling curve as the corpus grows.</a:t>
            </a:r>
          </a:p>
        </p:txBody>
      </p:sp>
      <p:sp>
        <p:nvSpPr>
          <p:cNvPr id="7" name="Rounded Rectangle 6"/>
          <p:cNvSpPr/>
          <p:nvPr/>
        </p:nvSpPr>
        <p:spPr>
          <a:xfrm>
            <a:off x="7680960" y="2286000"/>
            <a:ext cx="3959352" cy="141732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0" y="2286000"/>
            <a:ext cx="109728" cy="141732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73568" y="2395728"/>
            <a:ext cx="3566160" cy="1280160"/>
          </a:xfrm>
          <a:prstGeom prst="rect">
            <a:avLst/>
          </a:prstGeom>
          <a:noFill/>
        </p:spPr>
        <p:txBody>
          <a:bodyPr wrap="square" anchor="t">
            <a:spAutoFit/>
          </a:bodyPr>
          <a:lstStyle/>
          <a:p>
            <a:pPr algn="l">
              <a:lnSpc>
                <a:spcPct val="100000"/>
              </a:lnSpc>
              <a:spcBef>
                <a:spcPts val="0"/>
              </a:spcBef>
              <a:spcAft>
                <a:spcPts val="300"/>
              </a:spcAft>
            </a:pPr>
            <a:r>
              <a:rPr sz="1300" b="1" i="0">
                <a:solidFill>
                  <a:srgbClr val="F97015"/>
                </a:solidFill>
                <a:latin typeface="Arial"/>
              </a:rPr>
              <a:t>Question set · 30 Q</a:t>
            </a:r>
          </a:p>
          <a:p>
            <a:pPr algn="l">
              <a:lnSpc>
                <a:spcPct val="100000"/>
              </a:lnSpc>
              <a:spcBef>
                <a:spcPts val="0"/>
              </a:spcBef>
              <a:spcAft>
                <a:spcPts val="300"/>
              </a:spcAft>
            </a:pPr>
            <a:r>
              <a:rPr sz="1200" b="0" i="0">
                <a:solidFill>
                  <a:srgbClr val="20142A"/>
                </a:solidFill>
                <a:latin typeface="Arial"/>
              </a:rPr>
              <a:t>T1  ·  single-fact</a:t>
            </a:r>
          </a:p>
          <a:p>
            <a:pPr algn="l">
              <a:lnSpc>
                <a:spcPct val="100000"/>
              </a:lnSpc>
              <a:spcBef>
                <a:spcPts val="0"/>
              </a:spcBef>
              <a:spcAft>
                <a:spcPts val="300"/>
              </a:spcAft>
            </a:pPr>
            <a:r>
              <a:rPr sz="1200" b="0" i="0">
                <a:solidFill>
                  <a:srgbClr val="20142A"/>
                </a:solidFill>
                <a:latin typeface="Arial"/>
              </a:rPr>
              <a:t>T2  ·  synthesis</a:t>
            </a:r>
          </a:p>
          <a:p>
            <a:pPr algn="l">
              <a:lnSpc>
                <a:spcPct val="100000"/>
              </a:lnSpc>
              <a:spcBef>
                <a:spcPts val="0"/>
              </a:spcBef>
              <a:spcAft>
                <a:spcPts val="300"/>
              </a:spcAft>
            </a:pPr>
            <a:r>
              <a:rPr sz="1200" b="0" i="0">
                <a:solidFill>
                  <a:srgbClr val="20142A"/>
                </a:solidFill>
                <a:latin typeface="Arial"/>
              </a:rPr>
              <a:t>T3  ·  unanswerable / trap</a:t>
            </a:r>
          </a:p>
        </p:txBody>
      </p:sp>
      <p:sp>
        <p:nvSpPr>
          <p:cNvPr id="10" name="Rounded Rectangle 9"/>
          <p:cNvSpPr/>
          <p:nvPr/>
        </p:nvSpPr>
        <p:spPr>
          <a:xfrm>
            <a:off x="7680960" y="3840480"/>
            <a:ext cx="3959352" cy="141732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0" y="3840480"/>
            <a:ext cx="109728" cy="1417320"/>
          </a:xfrm>
          <a:prstGeom prst="rect">
            <a:avLst/>
          </a:prstGeom>
          <a:solidFill>
            <a:srgbClr val="327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8" y="3950208"/>
            <a:ext cx="3566160" cy="1280160"/>
          </a:xfrm>
          <a:prstGeom prst="rect">
            <a:avLst/>
          </a:prstGeom>
          <a:noFill/>
        </p:spPr>
        <p:txBody>
          <a:bodyPr wrap="square" anchor="t">
            <a:spAutoFit/>
          </a:bodyPr>
          <a:lstStyle/>
          <a:p>
            <a:pPr algn="l">
              <a:lnSpc>
                <a:spcPct val="100000"/>
              </a:lnSpc>
              <a:spcBef>
                <a:spcPts val="0"/>
              </a:spcBef>
              <a:spcAft>
                <a:spcPts val="300"/>
              </a:spcAft>
            </a:pPr>
            <a:r>
              <a:rPr sz="1300" b="1" i="0">
                <a:solidFill>
                  <a:srgbClr val="327DF5"/>
                </a:solidFill>
                <a:latin typeface="Arial"/>
              </a:rPr>
              <a:t>Judge · cross-model</a:t>
            </a:r>
          </a:p>
          <a:p>
            <a:pPr algn="l">
              <a:lnSpc>
                <a:spcPct val="100000"/>
              </a:lnSpc>
              <a:spcBef>
                <a:spcPts val="0"/>
              </a:spcBef>
              <a:spcAft>
                <a:spcPts val="300"/>
              </a:spcAft>
            </a:pPr>
            <a:r>
              <a:rPr sz="1200" b="0" i="0">
                <a:solidFill>
                  <a:srgbClr val="20142A"/>
                </a:solidFill>
                <a:latin typeface="Arial"/>
              </a:rPr>
              <a:t>A separate model scores each answer —</a:t>
            </a:r>
          </a:p>
          <a:p>
            <a:pPr algn="l">
              <a:lnSpc>
                <a:spcPct val="100000"/>
              </a:lnSpc>
              <a:spcBef>
                <a:spcPts val="0"/>
              </a:spcBef>
              <a:spcAft>
                <a:spcPts val="300"/>
              </a:spcAft>
            </a:pPr>
            <a:r>
              <a:rPr sz="1200" b="0" i="0">
                <a:solidFill>
                  <a:srgbClr val="20142A"/>
                </a:solidFill>
                <a:latin typeface="Arial"/>
              </a:rPr>
              <a:t>judge ≠ answer model, to avoid</a:t>
            </a:r>
          </a:p>
          <a:p>
            <a:pPr algn="l">
              <a:lnSpc>
                <a:spcPct val="100000"/>
              </a:lnSpc>
              <a:spcBef>
                <a:spcPts val="0"/>
              </a:spcBef>
              <a:spcAft>
                <a:spcPts val="300"/>
              </a:spcAft>
            </a:pPr>
            <a:r>
              <a:rPr sz="1200" b="0" i="0">
                <a:solidFill>
                  <a:srgbClr val="20142A"/>
                </a:solidFill>
                <a:latin typeface="Arial"/>
              </a:rPr>
              <a:t>self-preference bias.</a:t>
            </a:r>
          </a:p>
        </p:txBody>
      </p:sp>
      <p:sp>
        <p:nvSpPr>
          <p:cNvPr id="13" name="Rounded Rectangle 12"/>
          <p:cNvSpPr/>
          <p:nvPr/>
        </p:nvSpPr>
        <p:spPr>
          <a:xfrm>
            <a:off x="548640" y="5486400"/>
            <a:ext cx="11091672" cy="868680"/>
          </a:xfrm>
          <a:prstGeom prst="roundRect">
            <a:avLst/>
          </a:prstGeom>
          <a:solidFill>
            <a:srgbClr val="290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486400"/>
            <a:ext cx="11091672" cy="868680"/>
          </a:xfrm>
          <a:prstGeom prst="rect">
            <a:avLst/>
          </a:prstGeom>
          <a:noFill/>
        </p:spPr>
        <p:txBody>
          <a:bodyPr wrap="square" anchor="ctr">
            <a:spAutoFit/>
          </a:bodyPr>
          <a:lstStyle/>
          <a:p>
            <a:pPr algn="ctr">
              <a:lnSpc>
                <a:spcPct val="100000"/>
              </a:lnSpc>
              <a:spcBef>
                <a:spcPts val="0"/>
              </a:spcBef>
              <a:spcAft>
                <a:spcPts val="0"/>
              </a:spcAft>
            </a:pPr>
            <a:r>
              <a:rPr sz="1350" b="1" i="0">
                <a:solidFill>
                  <a:srgbClr val="FFFFFF"/>
                </a:solidFill>
                <a:latin typeface="Arial"/>
              </a:rPr>
              <a:t>Correctness is judged against human references — written from the sources, before seeing any system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APPENDIX  ·  BACKUP SLIDE</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Smoke test — 1-question pilot (UvA corpus)</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55648"/>
            <a:ext cx="11091672" cy="868680"/>
          </a:xfrm>
          <a:prstGeom prst="roundRect">
            <a:avLst/>
          </a:prstGeom>
          <a:solidFill>
            <a:srgbClr val="FFE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55648"/>
            <a:ext cx="109728" cy="86868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10607040" cy="777240"/>
          </a:xfrm>
          <a:prstGeom prst="rect">
            <a:avLst/>
          </a:prstGeom>
          <a:noFill/>
        </p:spPr>
        <p:txBody>
          <a:bodyPr wrap="square" anchor="t">
            <a:spAutoFit/>
          </a:bodyPr>
          <a:lstStyle/>
          <a:p>
            <a:pPr algn="l">
              <a:lnSpc>
                <a:spcPct val="100000"/>
              </a:lnSpc>
              <a:spcBef>
                <a:spcPts val="0"/>
              </a:spcBef>
              <a:spcAft>
                <a:spcPts val="400"/>
              </a:spcAft>
            </a:pPr>
            <a:r>
              <a:rPr sz="1350" b="1" i="0">
                <a:solidFill>
                  <a:srgbClr val="F97015"/>
                </a:solidFill>
                <a:latin typeface="Arial"/>
              </a:rPr>
              <a:t>A 1-question pilot (T1-1), not the result — it checks the harness on the real setup.</a:t>
            </a:r>
          </a:p>
          <a:p>
            <a:pPr algn="l">
              <a:lnSpc>
                <a:spcPct val="100000"/>
              </a:lnSpc>
              <a:spcBef>
                <a:spcPts val="0"/>
              </a:spcBef>
              <a:spcAft>
                <a:spcPts val="400"/>
              </a:spcAft>
            </a:pPr>
            <a:r>
              <a:rPr sz="1150" b="0" i="0">
                <a:solidFill>
                  <a:srgbClr val="20142A"/>
                </a:solidFill>
                <a:latin typeface="Arial"/>
              </a:rPr>
              <a:t>UvA corpus · source-grounded reference · deployed config: answers Sonnet 4.6 · retrieval Sonnet 4.6 (temp 0) · judge Opus 4.8.</a:t>
            </a:r>
          </a:p>
        </p:txBody>
      </p:sp>
      <p:sp>
        <p:nvSpPr>
          <p:cNvPr id="9" name="TextBox 8"/>
          <p:cNvSpPr txBox="1"/>
          <p:nvPr/>
        </p:nvSpPr>
        <p:spPr>
          <a:xfrm>
            <a:off x="548640" y="2761488"/>
            <a:ext cx="10972800" cy="320040"/>
          </a:xfrm>
          <a:prstGeom prst="rect">
            <a:avLst/>
          </a:prstGeom>
          <a:noFill/>
        </p:spPr>
        <p:txBody>
          <a:bodyPr wrap="square" anchor="t">
            <a:spAutoFit/>
          </a:bodyPr>
          <a:lstStyle/>
          <a:p>
            <a:pPr algn="l">
              <a:lnSpc>
                <a:spcPct val="100000"/>
              </a:lnSpc>
              <a:spcBef>
                <a:spcPts val="0"/>
              </a:spcBef>
              <a:spcAft>
                <a:spcPts val="0"/>
              </a:spcAft>
            </a:pPr>
            <a:r>
              <a:rPr sz="1200" b="0" i="1">
                <a:solidFill>
                  <a:srgbClr val="6B5E78"/>
                </a:solidFill>
                <a:latin typeface="Arial"/>
              </a:rPr>
              <a:t>Smoke run · T1-1 (“which platform to deploy, and over what”)</a:t>
            </a:r>
          </a:p>
        </p:txBody>
      </p:sp>
      <p:sp>
        <p:nvSpPr>
          <p:cNvPr id="10" name="Rectangle 9"/>
          <p:cNvSpPr/>
          <p:nvPr/>
        </p:nvSpPr>
        <p:spPr>
          <a:xfrm>
            <a:off x="548640" y="3108960"/>
            <a:ext cx="10927080" cy="365760"/>
          </a:xfrm>
          <a:prstGeom prst="rect">
            <a:avLst/>
          </a:prstGeom>
          <a:solidFill>
            <a:srgbClr val="672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108960"/>
            <a:ext cx="2487168" cy="365760"/>
          </a:xfrm>
          <a:prstGeom prst="rect">
            <a:avLst/>
          </a:prstGeom>
          <a:noFill/>
        </p:spPr>
        <p:txBody>
          <a:bodyPr wrap="square" anchor="ctr">
            <a:spAutoFit/>
          </a:bodyPr>
          <a:lstStyle/>
          <a:p>
            <a:pPr algn="l">
              <a:lnSpc>
                <a:spcPct val="100000"/>
              </a:lnSpc>
              <a:spcBef>
                <a:spcPts val="0"/>
              </a:spcBef>
              <a:spcAft>
                <a:spcPts val="0"/>
              </a:spcAft>
            </a:pPr>
            <a:r>
              <a:rPr sz="1050" b="1" i="0">
                <a:solidFill>
                  <a:srgbClr val="FFFFFF"/>
                </a:solidFill>
                <a:latin typeface="Arial"/>
              </a:rPr>
              <a:t>Condition</a:t>
            </a:r>
          </a:p>
        </p:txBody>
      </p:sp>
      <p:sp>
        <p:nvSpPr>
          <p:cNvPr id="12" name="TextBox 11"/>
          <p:cNvSpPr txBox="1"/>
          <p:nvPr/>
        </p:nvSpPr>
        <p:spPr>
          <a:xfrm>
            <a:off x="3200400" y="3108960"/>
            <a:ext cx="1280160" cy="365760"/>
          </a:xfrm>
          <a:prstGeom prst="rect">
            <a:avLst/>
          </a:prstGeom>
          <a:noFill/>
        </p:spPr>
        <p:txBody>
          <a:bodyPr wrap="square" anchor="ctr">
            <a:spAutoFit/>
          </a:bodyPr>
          <a:lstStyle/>
          <a:p>
            <a:pPr algn="ctr">
              <a:lnSpc>
                <a:spcPct val="100000"/>
              </a:lnSpc>
              <a:spcBef>
                <a:spcPts val="0"/>
              </a:spcBef>
              <a:spcAft>
                <a:spcPts val="0"/>
              </a:spcAft>
            </a:pPr>
            <a:r>
              <a:rPr sz="1050" b="1" i="0">
                <a:solidFill>
                  <a:srgbClr val="FFFFFF"/>
                </a:solidFill>
                <a:latin typeface="Arial"/>
              </a:rPr>
              <a:t>Correct.</a:t>
            </a:r>
          </a:p>
        </p:txBody>
      </p:sp>
      <p:sp>
        <p:nvSpPr>
          <p:cNvPr id="13" name="TextBox 12"/>
          <p:cNvSpPr txBox="1"/>
          <p:nvPr/>
        </p:nvSpPr>
        <p:spPr>
          <a:xfrm>
            <a:off x="4480560" y="3108960"/>
            <a:ext cx="1280160" cy="365760"/>
          </a:xfrm>
          <a:prstGeom prst="rect">
            <a:avLst/>
          </a:prstGeom>
          <a:noFill/>
        </p:spPr>
        <p:txBody>
          <a:bodyPr wrap="square" anchor="ctr">
            <a:spAutoFit/>
          </a:bodyPr>
          <a:lstStyle/>
          <a:p>
            <a:pPr algn="ctr">
              <a:lnSpc>
                <a:spcPct val="100000"/>
              </a:lnSpc>
              <a:spcBef>
                <a:spcPts val="0"/>
              </a:spcBef>
              <a:spcAft>
                <a:spcPts val="0"/>
              </a:spcAft>
            </a:pPr>
            <a:r>
              <a:rPr sz="1050" b="1" i="0">
                <a:solidFill>
                  <a:srgbClr val="FFFFFF"/>
                </a:solidFill>
                <a:latin typeface="Arial"/>
              </a:rPr>
              <a:t>Faith.</a:t>
            </a:r>
          </a:p>
        </p:txBody>
      </p:sp>
      <p:sp>
        <p:nvSpPr>
          <p:cNvPr id="14" name="TextBox 13"/>
          <p:cNvSpPr txBox="1"/>
          <p:nvPr/>
        </p:nvSpPr>
        <p:spPr>
          <a:xfrm>
            <a:off x="5760720" y="3108960"/>
            <a:ext cx="1280160" cy="365760"/>
          </a:xfrm>
          <a:prstGeom prst="rect">
            <a:avLst/>
          </a:prstGeom>
          <a:noFill/>
        </p:spPr>
        <p:txBody>
          <a:bodyPr wrap="square" anchor="ctr">
            <a:spAutoFit/>
          </a:bodyPr>
          <a:lstStyle/>
          <a:p>
            <a:pPr algn="ctr">
              <a:lnSpc>
                <a:spcPct val="100000"/>
              </a:lnSpc>
              <a:spcBef>
                <a:spcPts val="0"/>
              </a:spcBef>
              <a:spcAft>
                <a:spcPts val="0"/>
              </a:spcAft>
            </a:pPr>
            <a:r>
              <a:rPr sz="1050" b="1" i="0">
                <a:solidFill>
                  <a:srgbClr val="FFFFFF"/>
                </a:solidFill>
                <a:latin typeface="Arial"/>
              </a:rPr>
              <a:t>Ctx recall</a:t>
            </a:r>
          </a:p>
        </p:txBody>
      </p:sp>
      <p:sp>
        <p:nvSpPr>
          <p:cNvPr id="15" name="TextBox 14"/>
          <p:cNvSpPr txBox="1"/>
          <p:nvPr/>
        </p:nvSpPr>
        <p:spPr>
          <a:xfrm>
            <a:off x="7040880" y="3108960"/>
            <a:ext cx="1417320" cy="365760"/>
          </a:xfrm>
          <a:prstGeom prst="rect">
            <a:avLst/>
          </a:prstGeom>
          <a:noFill/>
        </p:spPr>
        <p:txBody>
          <a:bodyPr wrap="square" anchor="ctr">
            <a:spAutoFit/>
          </a:bodyPr>
          <a:lstStyle/>
          <a:p>
            <a:pPr algn="ctr">
              <a:lnSpc>
                <a:spcPct val="100000"/>
              </a:lnSpc>
              <a:spcBef>
                <a:spcPts val="0"/>
              </a:spcBef>
              <a:spcAft>
                <a:spcPts val="0"/>
              </a:spcAft>
            </a:pPr>
            <a:r>
              <a:rPr sz="1050" b="1" i="0">
                <a:solidFill>
                  <a:srgbClr val="FFFFFF"/>
                </a:solidFill>
                <a:latin typeface="Arial"/>
              </a:rPr>
              <a:t>Relevancy</a:t>
            </a:r>
          </a:p>
        </p:txBody>
      </p:sp>
      <p:sp>
        <p:nvSpPr>
          <p:cNvPr id="16" name="TextBox 15"/>
          <p:cNvSpPr txBox="1"/>
          <p:nvPr/>
        </p:nvSpPr>
        <p:spPr>
          <a:xfrm>
            <a:off x="8458200" y="3108960"/>
            <a:ext cx="1600200" cy="365760"/>
          </a:xfrm>
          <a:prstGeom prst="rect">
            <a:avLst/>
          </a:prstGeom>
          <a:noFill/>
        </p:spPr>
        <p:txBody>
          <a:bodyPr wrap="square" anchor="ctr">
            <a:spAutoFit/>
          </a:bodyPr>
          <a:lstStyle/>
          <a:p>
            <a:pPr algn="ctr">
              <a:lnSpc>
                <a:spcPct val="100000"/>
              </a:lnSpc>
              <a:spcBef>
                <a:spcPts val="0"/>
              </a:spcBef>
              <a:spcAft>
                <a:spcPts val="0"/>
              </a:spcAft>
            </a:pPr>
            <a:r>
              <a:rPr sz="1050" b="1" i="0">
                <a:solidFill>
                  <a:srgbClr val="FFFFFF"/>
                </a:solidFill>
                <a:latin typeface="Arial"/>
              </a:rPr>
              <a:t>Tokens fed</a:t>
            </a:r>
          </a:p>
        </p:txBody>
      </p:sp>
      <p:sp>
        <p:nvSpPr>
          <p:cNvPr id="17" name="TextBox 16"/>
          <p:cNvSpPr txBox="1"/>
          <p:nvPr/>
        </p:nvSpPr>
        <p:spPr>
          <a:xfrm>
            <a:off x="10058400" y="3108960"/>
            <a:ext cx="1417320" cy="365760"/>
          </a:xfrm>
          <a:prstGeom prst="rect">
            <a:avLst/>
          </a:prstGeom>
          <a:noFill/>
        </p:spPr>
        <p:txBody>
          <a:bodyPr wrap="square" anchor="ctr">
            <a:spAutoFit/>
          </a:bodyPr>
          <a:lstStyle/>
          <a:p>
            <a:pPr algn="ctr">
              <a:lnSpc>
                <a:spcPct val="100000"/>
              </a:lnSpc>
              <a:spcBef>
                <a:spcPts val="0"/>
              </a:spcBef>
              <a:spcAft>
                <a:spcPts val="0"/>
              </a:spcAft>
            </a:pPr>
            <a:r>
              <a:rPr sz="1050" b="1" i="0">
                <a:solidFill>
                  <a:srgbClr val="FFFFFF"/>
                </a:solidFill>
                <a:latin typeface="Arial"/>
              </a:rPr>
              <a:t>Latency</a:t>
            </a:r>
          </a:p>
        </p:txBody>
      </p:sp>
      <p:sp>
        <p:nvSpPr>
          <p:cNvPr id="18" name="Rectangle 17"/>
          <p:cNvSpPr/>
          <p:nvPr/>
        </p:nvSpPr>
        <p:spPr>
          <a:xfrm>
            <a:off x="548640" y="3493008"/>
            <a:ext cx="10927080" cy="402336"/>
          </a:xfrm>
          <a:prstGeom prst="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493008"/>
            <a:ext cx="2487168" cy="402336"/>
          </a:xfrm>
          <a:prstGeom prst="rect">
            <a:avLst/>
          </a:prstGeom>
          <a:noFill/>
        </p:spPr>
        <p:txBody>
          <a:bodyPr wrap="square" anchor="ctr">
            <a:spAutoFit/>
          </a:bodyPr>
          <a:lstStyle/>
          <a:p>
            <a:pPr algn="l">
              <a:lnSpc>
                <a:spcPct val="100000"/>
              </a:lnSpc>
              <a:spcBef>
                <a:spcPts val="0"/>
              </a:spcBef>
              <a:spcAft>
                <a:spcPts val="0"/>
              </a:spcAft>
            </a:pPr>
            <a:r>
              <a:rPr sz="1100" b="0" i="0">
                <a:solidFill>
                  <a:srgbClr val="20142A"/>
                </a:solidFill>
                <a:latin typeface="Arial"/>
              </a:rPr>
              <a:t>C0 · closed-book</a:t>
            </a:r>
          </a:p>
        </p:txBody>
      </p:sp>
      <p:sp>
        <p:nvSpPr>
          <p:cNvPr id="20" name="TextBox 19"/>
          <p:cNvSpPr txBox="1"/>
          <p:nvPr/>
        </p:nvSpPr>
        <p:spPr>
          <a:xfrm>
            <a:off x="3200400" y="3493008"/>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0.0</a:t>
            </a:r>
          </a:p>
        </p:txBody>
      </p:sp>
      <p:sp>
        <p:nvSpPr>
          <p:cNvPr id="21" name="TextBox 20"/>
          <p:cNvSpPr txBox="1"/>
          <p:nvPr/>
        </p:nvSpPr>
        <p:spPr>
          <a:xfrm>
            <a:off x="4480560" y="3493008"/>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a:t>
            </a:r>
          </a:p>
        </p:txBody>
      </p:sp>
      <p:sp>
        <p:nvSpPr>
          <p:cNvPr id="22" name="TextBox 21"/>
          <p:cNvSpPr txBox="1"/>
          <p:nvPr/>
        </p:nvSpPr>
        <p:spPr>
          <a:xfrm>
            <a:off x="5760720" y="3493008"/>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a:t>
            </a:r>
          </a:p>
        </p:txBody>
      </p:sp>
      <p:sp>
        <p:nvSpPr>
          <p:cNvPr id="23" name="TextBox 22"/>
          <p:cNvSpPr txBox="1"/>
          <p:nvPr/>
        </p:nvSpPr>
        <p:spPr>
          <a:xfrm>
            <a:off x="7040880" y="3493008"/>
            <a:ext cx="141732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1.00</a:t>
            </a:r>
          </a:p>
        </p:txBody>
      </p:sp>
      <p:sp>
        <p:nvSpPr>
          <p:cNvPr id="24" name="TextBox 23"/>
          <p:cNvSpPr txBox="1"/>
          <p:nvPr/>
        </p:nvSpPr>
        <p:spPr>
          <a:xfrm>
            <a:off x="8458200" y="3493008"/>
            <a:ext cx="160020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85</a:t>
            </a:r>
          </a:p>
        </p:txBody>
      </p:sp>
      <p:sp>
        <p:nvSpPr>
          <p:cNvPr id="25" name="TextBox 24"/>
          <p:cNvSpPr txBox="1"/>
          <p:nvPr/>
        </p:nvSpPr>
        <p:spPr>
          <a:xfrm>
            <a:off x="10058400" y="3493008"/>
            <a:ext cx="141732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1.6s</a:t>
            </a:r>
          </a:p>
        </p:txBody>
      </p:sp>
      <p:sp>
        <p:nvSpPr>
          <p:cNvPr id="26" name="Rectangle 25"/>
          <p:cNvSpPr/>
          <p:nvPr/>
        </p:nvSpPr>
        <p:spPr>
          <a:xfrm>
            <a:off x="548640" y="3913632"/>
            <a:ext cx="109270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3913632"/>
            <a:ext cx="2487168" cy="402336"/>
          </a:xfrm>
          <a:prstGeom prst="rect">
            <a:avLst/>
          </a:prstGeom>
          <a:noFill/>
        </p:spPr>
        <p:txBody>
          <a:bodyPr wrap="square" anchor="ctr">
            <a:spAutoFit/>
          </a:bodyPr>
          <a:lstStyle/>
          <a:p>
            <a:pPr algn="l">
              <a:lnSpc>
                <a:spcPct val="100000"/>
              </a:lnSpc>
              <a:spcBef>
                <a:spcPts val="0"/>
              </a:spcBef>
              <a:spcAft>
                <a:spcPts val="0"/>
              </a:spcAft>
            </a:pPr>
            <a:r>
              <a:rPr sz="1100" b="0" i="0">
                <a:solidFill>
                  <a:srgbClr val="20142A"/>
                </a:solidFill>
                <a:latin typeface="Arial"/>
              </a:rPr>
              <a:t>C1 · raw-dump</a:t>
            </a:r>
          </a:p>
        </p:txBody>
      </p:sp>
      <p:sp>
        <p:nvSpPr>
          <p:cNvPr id="28" name="TextBox 27"/>
          <p:cNvSpPr txBox="1"/>
          <p:nvPr/>
        </p:nvSpPr>
        <p:spPr>
          <a:xfrm>
            <a:off x="3200400" y="3913632"/>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1.0</a:t>
            </a:r>
          </a:p>
        </p:txBody>
      </p:sp>
      <p:sp>
        <p:nvSpPr>
          <p:cNvPr id="29" name="TextBox 28"/>
          <p:cNvSpPr txBox="1"/>
          <p:nvPr/>
        </p:nvSpPr>
        <p:spPr>
          <a:xfrm>
            <a:off x="4480560" y="3913632"/>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1.00</a:t>
            </a:r>
          </a:p>
        </p:txBody>
      </p:sp>
      <p:sp>
        <p:nvSpPr>
          <p:cNvPr id="30" name="TextBox 29"/>
          <p:cNvSpPr txBox="1"/>
          <p:nvPr/>
        </p:nvSpPr>
        <p:spPr>
          <a:xfrm>
            <a:off x="5760720" y="3913632"/>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a:t>
            </a:r>
          </a:p>
        </p:txBody>
      </p:sp>
      <p:sp>
        <p:nvSpPr>
          <p:cNvPr id="31" name="TextBox 30"/>
          <p:cNvSpPr txBox="1"/>
          <p:nvPr/>
        </p:nvSpPr>
        <p:spPr>
          <a:xfrm>
            <a:off x="7040880" y="3913632"/>
            <a:ext cx="141732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0.71</a:t>
            </a:r>
          </a:p>
        </p:txBody>
      </p:sp>
      <p:sp>
        <p:nvSpPr>
          <p:cNvPr id="32" name="TextBox 31"/>
          <p:cNvSpPr txBox="1"/>
          <p:nvPr/>
        </p:nvSpPr>
        <p:spPr>
          <a:xfrm>
            <a:off x="8458200" y="3913632"/>
            <a:ext cx="160020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38,504</a:t>
            </a:r>
          </a:p>
        </p:txBody>
      </p:sp>
      <p:sp>
        <p:nvSpPr>
          <p:cNvPr id="33" name="TextBox 32"/>
          <p:cNvSpPr txBox="1"/>
          <p:nvPr/>
        </p:nvSpPr>
        <p:spPr>
          <a:xfrm>
            <a:off x="10058400" y="3913632"/>
            <a:ext cx="141732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8.4s</a:t>
            </a:r>
          </a:p>
        </p:txBody>
      </p:sp>
      <p:sp>
        <p:nvSpPr>
          <p:cNvPr id="34" name="Rectangle 33"/>
          <p:cNvSpPr/>
          <p:nvPr/>
        </p:nvSpPr>
        <p:spPr>
          <a:xfrm>
            <a:off x="548640" y="4334256"/>
            <a:ext cx="10927080" cy="402336"/>
          </a:xfrm>
          <a:prstGeom prst="rect">
            <a:avLst/>
          </a:prstGeom>
          <a:solidFill>
            <a:srgbClr val="F7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4334256"/>
            <a:ext cx="2487168" cy="402336"/>
          </a:xfrm>
          <a:prstGeom prst="rect">
            <a:avLst/>
          </a:prstGeom>
          <a:noFill/>
        </p:spPr>
        <p:txBody>
          <a:bodyPr wrap="square" anchor="ctr">
            <a:spAutoFit/>
          </a:bodyPr>
          <a:lstStyle/>
          <a:p>
            <a:pPr algn="l">
              <a:lnSpc>
                <a:spcPct val="100000"/>
              </a:lnSpc>
              <a:spcBef>
                <a:spcPts val="0"/>
              </a:spcBef>
              <a:spcAft>
                <a:spcPts val="0"/>
              </a:spcAft>
            </a:pPr>
            <a:r>
              <a:rPr sz="1100" b="0" i="0">
                <a:solidFill>
                  <a:srgbClr val="20142A"/>
                </a:solidFill>
                <a:latin typeface="Arial"/>
              </a:rPr>
              <a:t>C1r · raw+retrieval</a:t>
            </a:r>
          </a:p>
        </p:txBody>
      </p:sp>
      <p:sp>
        <p:nvSpPr>
          <p:cNvPr id="36" name="TextBox 35"/>
          <p:cNvSpPr txBox="1"/>
          <p:nvPr/>
        </p:nvSpPr>
        <p:spPr>
          <a:xfrm>
            <a:off x="3200400" y="4334256"/>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0.8</a:t>
            </a:r>
          </a:p>
        </p:txBody>
      </p:sp>
      <p:sp>
        <p:nvSpPr>
          <p:cNvPr id="37" name="TextBox 36"/>
          <p:cNvSpPr txBox="1"/>
          <p:nvPr/>
        </p:nvSpPr>
        <p:spPr>
          <a:xfrm>
            <a:off x="4480560" y="4334256"/>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1.00</a:t>
            </a:r>
          </a:p>
        </p:txBody>
      </p:sp>
      <p:sp>
        <p:nvSpPr>
          <p:cNvPr id="38" name="TextBox 37"/>
          <p:cNvSpPr txBox="1"/>
          <p:nvPr/>
        </p:nvSpPr>
        <p:spPr>
          <a:xfrm>
            <a:off x="5760720" y="4334256"/>
            <a:ext cx="128016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1.00</a:t>
            </a:r>
          </a:p>
        </p:txBody>
      </p:sp>
      <p:sp>
        <p:nvSpPr>
          <p:cNvPr id="39" name="TextBox 38"/>
          <p:cNvSpPr txBox="1"/>
          <p:nvPr/>
        </p:nvSpPr>
        <p:spPr>
          <a:xfrm>
            <a:off x="7040880" y="4334256"/>
            <a:ext cx="141732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1.00</a:t>
            </a:r>
          </a:p>
        </p:txBody>
      </p:sp>
      <p:sp>
        <p:nvSpPr>
          <p:cNvPr id="40" name="TextBox 39"/>
          <p:cNvSpPr txBox="1"/>
          <p:nvPr/>
        </p:nvSpPr>
        <p:spPr>
          <a:xfrm>
            <a:off x="8458200" y="4334256"/>
            <a:ext cx="160020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4,330</a:t>
            </a:r>
          </a:p>
        </p:txBody>
      </p:sp>
      <p:sp>
        <p:nvSpPr>
          <p:cNvPr id="41" name="TextBox 40"/>
          <p:cNvSpPr txBox="1"/>
          <p:nvPr/>
        </p:nvSpPr>
        <p:spPr>
          <a:xfrm>
            <a:off x="10058400" y="4334256"/>
            <a:ext cx="1417320" cy="402336"/>
          </a:xfrm>
          <a:prstGeom prst="rect">
            <a:avLst/>
          </a:prstGeom>
          <a:noFill/>
        </p:spPr>
        <p:txBody>
          <a:bodyPr wrap="square" anchor="ctr">
            <a:spAutoFit/>
          </a:bodyPr>
          <a:lstStyle/>
          <a:p>
            <a:pPr algn="ctr">
              <a:lnSpc>
                <a:spcPct val="100000"/>
              </a:lnSpc>
              <a:spcBef>
                <a:spcPts val="0"/>
              </a:spcBef>
              <a:spcAft>
                <a:spcPts val="0"/>
              </a:spcAft>
            </a:pPr>
            <a:r>
              <a:rPr sz="1100" b="0" i="0">
                <a:solidFill>
                  <a:srgbClr val="20142A"/>
                </a:solidFill>
                <a:latin typeface="Arial"/>
              </a:rPr>
              <a:t>8.4s</a:t>
            </a:r>
          </a:p>
        </p:txBody>
      </p:sp>
      <p:sp>
        <p:nvSpPr>
          <p:cNvPr id="42" name="Rectangle 41"/>
          <p:cNvSpPr/>
          <p:nvPr/>
        </p:nvSpPr>
        <p:spPr>
          <a:xfrm>
            <a:off x="548640" y="4754880"/>
            <a:ext cx="10927080" cy="402336"/>
          </a:xfrm>
          <a:prstGeom prst="rect">
            <a:avLst/>
          </a:prstGeom>
          <a:solidFill>
            <a:srgbClr val="FFE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4754880"/>
            <a:ext cx="2487168" cy="402336"/>
          </a:xfrm>
          <a:prstGeom prst="rect">
            <a:avLst/>
          </a:prstGeom>
          <a:noFill/>
        </p:spPr>
        <p:txBody>
          <a:bodyPr wrap="square" anchor="ctr">
            <a:spAutoFit/>
          </a:bodyPr>
          <a:lstStyle/>
          <a:p>
            <a:pPr algn="l">
              <a:lnSpc>
                <a:spcPct val="100000"/>
              </a:lnSpc>
              <a:spcBef>
                <a:spcPts val="0"/>
              </a:spcBef>
              <a:spcAft>
                <a:spcPts val="0"/>
              </a:spcAft>
            </a:pPr>
            <a:r>
              <a:rPr sz="1100" b="1" i="0">
                <a:solidFill>
                  <a:srgbClr val="20142A"/>
                </a:solidFill>
                <a:latin typeface="Arial"/>
              </a:rPr>
              <a:t>C2 · wiki+retrieval</a:t>
            </a:r>
          </a:p>
        </p:txBody>
      </p:sp>
      <p:sp>
        <p:nvSpPr>
          <p:cNvPr id="44" name="TextBox 43"/>
          <p:cNvSpPr txBox="1"/>
          <p:nvPr/>
        </p:nvSpPr>
        <p:spPr>
          <a:xfrm>
            <a:off x="3200400" y="4754880"/>
            <a:ext cx="128016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0.4</a:t>
            </a:r>
          </a:p>
        </p:txBody>
      </p:sp>
      <p:sp>
        <p:nvSpPr>
          <p:cNvPr id="45" name="TextBox 44"/>
          <p:cNvSpPr txBox="1"/>
          <p:nvPr/>
        </p:nvSpPr>
        <p:spPr>
          <a:xfrm>
            <a:off x="4480560" y="4754880"/>
            <a:ext cx="128016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0.90</a:t>
            </a:r>
          </a:p>
        </p:txBody>
      </p:sp>
      <p:sp>
        <p:nvSpPr>
          <p:cNvPr id="46" name="TextBox 45"/>
          <p:cNvSpPr txBox="1"/>
          <p:nvPr/>
        </p:nvSpPr>
        <p:spPr>
          <a:xfrm>
            <a:off x="5760720" y="4754880"/>
            <a:ext cx="128016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0.50</a:t>
            </a:r>
          </a:p>
        </p:txBody>
      </p:sp>
      <p:sp>
        <p:nvSpPr>
          <p:cNvPr id="47" name="TextBox 46"/>
          <p:cNvSpPr txBox="1"/>
          <p:nvPr/>
        </p:nvSpPr>
        <p:spPr>
          <a:xfrm>
            <a:off x="7040880" y="4754880"/>
            <a:ext cx="141732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0.90</a:t>
            </a:r>
          </a:p>
        </p:txBody>
      </p:sp>
      <p:sp>
        <p:nvSpPr>
          <p:cNvPr id="48" name="TextBox 47"/>
          <p:cNvSpPr txBox="1"/>
          <p:nvPr/>
        </p:nvSpPr>
        <p:spPr>
          <a:xfrm>
            <a:off x="8458200" y="4754880"/>
            <a:ext cx="160020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14,627</a:t>
            </a:r>
          </a:p>
        </p:txBody>
      </p:sp>
      <p:sp>
        <p:nvSpPr>
          <p:cNvPr id="49" name="TextBox 48"/>
          <p:cNvSpPr txBox="1"/>
          <p:nvPr/>
        </p:nvSpPr>
        <p:spPr>
          <a:xfrm>
            <a:off x="10058400" y="4754880"/>
            <a:ext cx="1417320" cy="402336"/>
          </a:xfrm>
          <a:prstGeom prst="rect">
            <a:avLst/>
          </a:prstGeom>
          <a:noFill/>
        </p:spPr>
        <p:txBody>
          <a:bodyPr wrap="square" anchor="ctr">
            <a:spAutoFit/>
          </a:bodyPr>
          <a:lstStyle/>
          <a:p>
            <a:pPr algn="ctr">
              <a:lnSpc>
                <a:spcPct val="100000"/>
              </a:lnSpc>
              <a:spcBef>
                <a:spcPts val="0"/>
              </a:spcBef>
              <a:spcAft>
                <a:spcPts val="0"/>
              </a:spcAft>
            </a:pPr>
            <a:r>
              <a:rPr sz="1100" b="1" i="0">
                <a:solidFill>
                  <a:srgbClr val="20142A"/>
                </a:solidFill>
                <a:latin typeface="Arial"/>
              </a:rPr>
              <a:t>6.2s</a:t>
            </a:r>
          </a:p>
        </p:txBody>
      </p:sp>
      <p:sp>
        <p:nvSpPr>
          <p:cNvPr id="50" name="TextBox 49"/>
          <p:cNvSpPr txBox="1"/>
          <p:nvPr/>
        </p:nvSpPr>
        <p:spPr>
          <a:xfrm>
            <a:off x="548640" y="5321808"/>
            <a:ext cx="11091672" cy="1097280"/>
          </a:xfrm>
          <a:prstGeom prst="rect">
            <a:avLst/>
          </a:prstGeom>
          <a:noFill/>
        </p:spPr>
        <p:txBody>
          <a:bodyPr wrap="square" anchor="t">
            <a:spAutoFit/>
          </a:bodyPr>
          <a:lstStyle/>
          <a:p>
            <a:pPr algn="l">
              <a:lnSpc>
                <a:spcPct val="100000"/>
              </a:lnSpc>
              <a:spcBef>
                <a:spcPts val="0"/>
              </a:spcBef>
              <a:spcAft>
                <a:spcPts val="600"/>
              </a:spcAft>
            </a:pPr>
            <a:r>
              <a:rPr sz="1250" b="1" i="0">
                <a:solidFill>
                  <a:srgbClr val="67269C"/>
                </a:solidFill>
                <a:latin typeface="Arial"/>
              </a:rPr>
              <a:t>What it shows:  </a:t>
            </a:r>
            <a:r>
              <a:rPr sz="1250" b="0" i="0">
                <a:solidFill>
                  <a:srgbClr val="20142A"/>
                </a:solidFill>
                <a:latin typeface="Arial"/>
              </a:rPr>
              <a:t>the harness runs end-to-end on the UvA corpus — all conditions generate, all metrics compute (incl. faithfulness), the cross-model judge runs.</a:t>
            </a:r>
          </a:p>
          <a:p>
            <a:pPr algn="l">
              <a:lnSpc>
                <a:spcPct val="100000"/>
              </a:lnSpc>
              <a:spcBef>
                <a:spcPts val="0"/>
              </a:spcBef>
              <a:spcAft>
                <a:spcPts val="600"/>
              </a:spcAft>
            </a:pPr>
            <a:r>
              <a:rPr sz="1250" b="1" i="0">
                <a:solidFill>
                  <a:srgbClr val="F97015"/>
                </a:solidFill>
                <a:latin typeface="Arial"/>
              </a:rPr>
              <a:t>Cost (H2):  </a:t>
            </a:r>
            <a:r>
              <a:rPr sz="1250" b="0" i="0">
                <a:solidFill>
                  <a:srgbClr val="20142A"/>
                </a:solidFill>
                <a:latin typeface="Arial"/>
              </a:rPr>
              <a:t>C2 feeds ~2.6× fewer tokens than the C1 full dump (14.6k vs 38.5k) — the stable, meaningful number here.</a:t>
            </a:r>
          </a:p>
          <a:p>
            <a:pPr algn="l">
              <a:lnSpc>
                <a:spcPct val="100000"/>
              </a:lnSpc>
              <a:spcBef>
                <a:spcPts val="0"/>
              </a:spcBef>
              <a:spcAft>
                <a:spcPts val="600"/>
              </a:spcAft>
            </a:pPr>
            <a:r>
              <a:rPr sz="1100" b="0" i="1">
                <a:solidFill>
                  <a:srgbClr val="6B5E78"/>
                </a:solidFill>
                <a:latin typeface="Arial"/>
              </a:rPr>
              <a:t>No quality direction at n=1 — single-question scores bounce run-to-run (LLM-judge noise; the judge can't be pinned to temp 0), and recall is capped by the title-only catalog (hits C1r &amp; C2 equally, so C1r-vs-C2 stays fair). The 30-question averages are the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APPENDIX  ·  BACKUP SLIDE</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Retrieval — index → relevant pages</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11091672" cy="502920"/>
          </a:xfrm>
          <a:prstGeom prst="rect">
            <a:avLst/>
          </a:prstGeom>
          <a:noFill/>
        </p:spPr>
        <p:txBody>
          <a:bodyPr wrap="square" anchor="t">
            <a:spAutoFit/>
          </a:bodyPr>
          <a:lstStyle/>
          <a:p>
            <a:pPr algn="l">
              <a:lnSpc>
                <a:spcPct val="105000"/>
              </a:lnSpc>
              <a:spcBef>
                <a:spcPts val="0"/>
              </a:spcBef>
              <a:spcAft>
                <a:spcPts val="0"/>
              </a:spcAft>
            </a:pPr>
            <a:r>
              <a:rPr sz="1250" b="0" i="0">
                <a:solidFill>
                  <a:srgbClr val="20142A"/>
                </a:solidFill>
                <a:latin typeface="Arial"/>
              </a:rPr>
              <a:t>A cheap LLM reads the wiki's catalog of page titles, picks the few pages relevant to the question, and loads only those.  No vector database, no embeddings.</a:t>
            </a:r>
          </a:p>
        </p:txBody>
      </p:sp>
      <p:sp>
        <p:nvSpPr>
          <p:cNvPr id="7" name="Rounded Rectangle 6"/>
          <p:cNvSpPr/>
          <p:nvPr/>
        </p:nvSpPr>
        <p:spPr>
          <a:xfrm>
            <a:off x="548640" y="2377440"/>
            <a:ext cx="6446520" cy="315468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377440"/>
            <a:ext cx="109728" cy="315468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87168"/>
            <a:ext cx="5943600" cy="320040"/>
          </a:xfrm>
          <a:prstGeom prst="rect">
            <a:avLst/>
          </a:prstGeom>
          <a:noFill/>
        </p:spPr>
        <p:txBody>
          <a:bodyPr wrap="square" anchor="t">
            <a:spAutoFit/>
          </a:bodyPr>
          <a:lstStyle/>
          <a:p>
            <a:pPr algn="l">
              <a:lnSpc>
                <a:spcPct val="100000"/>
              </a:lnSpc>
              <a:spcBef>
                <a:spcPts val="0"/>
              </a:spcBef>
              <a:spcAft>
                <a:spcPts val="0"/>
              </a:spcAft>
            </a:pPr>
            <a:r>
              <a:rPr sz="1300" b="1" i="0">
                <a:solidFill>
                  <a:srgbClr val="F97015"/>
                </a:solidFill>
                <a:latin typeface="Arial"/>
              </a:rPr>
              <a:t>How it works</a:t>
            </a:r>
          </a:p>
        </p:txBody>
      </p:sp>
      <p:sp>
        <p:nvSpPr>
          <p:cNvPr id="10" name="TextBox 9"/>
          <p:cNvSpPr txBox="1"/>
          <p:nvPr/>
        </p:nvSpPr>
        <p:spPr>
          <a:xfrm>
            <a:off x="868680" y="2852928"/>
            <a:ext cx="5989320" cy="2606040"/>
          </a:xfrm>
          <a:prstGeom prst="rect">
            <a:avLst/>
          </a:prstGeom>
          <a:noFill/>
        </p:spPr>
        <p:txBody>
          <a:bodyPr wrap="square" anchor="t">
            <a:spAutoFit/>
          </a:bodyPr>
          <a:lstStyle/>
          <a:p>
            <a:pPr algn="l">
              <a:lnSpc>
                <a:spcPct val="100000"/>
              </a:lnSpc>
              <a:spcBef>
                <a:spcPts val="0"/>
              </a:spcBef>
              <a:spcAft>
                <a:spcPts val="600"/>
              </a:spcAft>
            </a:pPr>
            <a:r>
              <a:rPr sz="1300" b="1" i="0">
                <a:solidFill>
                  <a:srgbClr val="F97015"/>
                </a:solidFill>
                <a:latin typeface="Arial"/>
              </a:rPr>
              <a:t>1   </a:t>
            </a:r>
            <a:r>
              <a:rPr sz="1300" b="1" i="0">
                <a:solidFill>
                  <a:srgbClr val="20142A"/>
                </a:solidFill>
                <a:latin typeface="Arial"/>
              </a:rPr>
              <a:t>Build a catalog</a:t>
            </a:r>
          </a:p>
          <a:p>
            <a:pPr algn="l">
              <a:lnSpc>
                <a:spcPct val="100000"/>
              </a:lnSpc>
              <a:spcBef>
                <a:spcPts val="0"/>
              </a:spcBef>
              <a:spcAft>
                <a:spcPts val="600"/>
              </a:spcAft>
            </a:pPr>
            <a:r>
              <a:rPr sz="1050" b="0" i="0">
                <a:solidFill>
                  <a:srgbClr val="6B5E78"/>
                </a:solidFill>
                <a:latin typeface="Arial"/>
              </a:rPr>
              <a:t>        every wiki page as  path · title  — permission-filtered</a:t>
            </a:r>
          </a:p>
          <a:p>
            <a:pPr algn="l">
              <a:lnSpc>
                <a:spcPct val="100000"/>
              </a:lnSpc>
              <a:spcBef>
                <a:spcPts val="0"/>
              </a:spcBef>
              <a:spcAft>
                <a:spcPts val="600"/>
              </a:spcAft>
            </a:pPr>
            <a:r>
              <a:rPr sz="1300" b="1" i="0">
                <a:solidFill>
                  <a:srgbClr val="F97015"/>
                </a:solidFill>
                <a:latin typeface="Arial"/>
              </a:rPr>
              <a:t>2   </a:t>
            </a:r>
            <a:r>
              <a:rPr sz="1300" b="1" i="0">
                <a:solidFill>
                  <a:srgbClr val="20142A"/>
                </a:solidFill>
                <a:latin typeface="Arial"/>
              </a:rPr>
              <a:t>Rank with a cheap model</a:t>
            </a:r>
          </a:p>
          <a:p>
            <a:pPr algn="l">
              <a:lnSpc>
                <a:spcPct val="100000"/>
              </a:lnSpc>
              <a:spcBef>
                <a:spcPts val="0"/>
              </a:spcBef>
              <a:spcAft>
                <a:spcPts val="600"/>
              </a:spcAft>
            </a:pPr>
            <a:r>
              <a:rPr sz="1050" b="0" i="0">
                <a:solidFill>
                  <a:srgbClr val="6B5E78"/>
                </a:solidFill>
                <a:latin typeface="Arial"/>
              </a:rPr>
              <a:t>        Haiku 4.5 returns a JSON list of up to k = 8 paths</a:t>
            </a:r>
          </a:p>
          <a:p>
            <a:pPr algn="l">
              <a:lnSpc>
                <a:spcPct val="100000"/>
              </a:lnSpc>
              <a:spcBef>
                <a:spcPts val="0"/>
              </a:spcBef>
              <a:spcAft>
                <a:spcPts val="600"/>
              </a:spcAft>
            </a:pPr>
            <a:r>
              <a:rPr sz="1300" b="1" i="0">
                <a:solidFill>
                  <a:srgbClr val="F97015"/>
                </a:solidFill>
                <a:latin typeface="Arial"/>
              </a:rPr>
              <a:t>3   </a:t>
            </a:r>
            <a:r>
              <a:rPr sz="1300" b="1" i="0">
                <a:solidFill>
                  <a:srgbClr val="20142A"/>
                </a:solidFill>
                <a:latin typeface="Arial"/>
              </a:rPr>
              <a:t>Validate &amp; load</a:t>
            </a:r>
          </a:p>
          <a:p>
            <a:pPr algn="l">
              <a:lnSpc>
                <a:spcPct val="100000"/>
              </a:lnSpc>
              <a:spcBef>
                <a:spcPts val="0"/>
              </a:spcBef>
              <a:spcAft>
                <a:spcPts val="600"/>
              </a:spcAft>
            </a:pPr>
            <a:r>
              <a:rPr sz="1050" b="0" i="0">
                <a:solidFill>
                  <a:srgbClr val="6B5E78"/>
                </a:solidFill>
                <a:latin typeface="Arial"/>
              </a:rPr>
              <a:t>        keep valid paths · load only those pages' full text</a:t>
            </a:r>
          </a:p>
          <a:p>
            <a:pPr algn="l">
              <a:lnSpc>
                <a:spcPct val="100000"/>
              </a:lnSpc>
              <a:spcBef>
                <a:spcPts val="0"/>
              </a:spcBef>
              <a:spcAft>
                <a:spcPts val="600"/>
              </a:spcAft>
            </a:pPr>
            <a:r>
              <a:rPr sz="1300" b="1" i="0">
                <a:solidFill>
                  <a:srgbClr val="F97015"/>
                </a:solidFill>
                <a:latin typeface="Arial"/>
              </a:rPr>
              <a:t>4   </a:t>
            </a:r>
            <a:r>
              <a:rPr sz="1300" b="1" i="0">
                <a:solidFill>
                  <a:srgbClr val="20142A"/>
                </a:solidFill>
                <a:latin typeface="Arial"/>
              </a:rPr>
              <a:t>Answer &amp; cite</a:t>
            </a:r>
          </a:p>
          <a:p>
            <a:pPr algn="l">
              <a:lnSpc>
                <a:spcPct val="100000"/>
              </a:lnSpc>
              <a:spcBef>
                <a:spcPts val="0"/>
              </a:spcBef>
              <a:spcAft>
                <a:spcPts val="600"/>
              </a:spcAft>
            </a:pPr>
            <a:r>
              <a:rPr sz="1050" b="0" i="0">
                <a:solidFill>
                  <a:srgbClr val="6B5E78"/>
                </a:solidFill>
                <a:latin typeface="Arial"/>
              </a:rPr>
              <a:t>        answer from those pages; the paths become the citations</a:t>
            </a:r>
          </a:p>
        </p:txBody>
      </p:sp>
      <p:sp>
        <p:nvSpPr>
          <p:cNvPr id="11" name="Rounded Rectangle 10"/>
          <p:cNvSpPr/>
          <p:nvPr/>
        </p:nvSpPr>
        <p:spPr>
          <a:xfrm>
            <a:off x="7178040" y="2377440"/>
            <a:ext cx="4462272" cy="3154680"/>
          </a:xfrm>
          <a:prstGeom prst="roundRect">
            <a:avLst/>
          </a:prstGeom>
          <a:solidFill>
            <a:srgbClr val="FFFFFF"/>
          </a:solidFill>
          <a:ln w="19050">
            <a:solidFill>
              <a:srgbClr val="EADF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2487168"/>
            <a:ext cx="4023360" cy="320040"/>
          </a:xfrm>
          <a:prstGeom prst="rect">
            <a:avLst/>
          </a:prstGeom>
          <a:noFill/>
        </p:spPr>
        <p:txBody>
          <a:bodyPr wrap="square" anchor="t">
            <a:spAutoFit/>
          </a:bodyPr>
          <a:lstStyle/>
          <a:p>
            <a:pPr algn="l">
              <a:lnSpc>
                <a:spcPct val="100000"/>
              </a:lnSpc>
              <a:spcBef>
                <a:spcPts val="0"/>
              </a:spcBef>
              <a:spcAft>
                <a:spcPts val="0"/>
              </a:spcAft>
            </a:pPr>
            <a:r>
              <a:rPr sz="1300" b="1" i="0">
                <a:solidFill>
                  <a:srgbClr val="67269C"/>
                </a:solidFill>
                <a:latin typeface="Arial"/>
              </a:rPr>
              <a:t>Why this design</a:t>
            </a:r>
          </a:p>
        </p:txBody>
      </p:sp>
      <p:sp>
        <p:nvSpPr>
          <p:cNvPr id="13" name="TextBox 12"/>
          <p:cNvSpPr txBox="1"/>
          <p:nvPr/>
        </p:nvSpPr>
        <p:spPr>
          <a:xfrm>
            <a:off x="7452360" y="2852928"/>
            <a:ext cx="4023360" cy="4572000"/>
          </a:xfrm>
          <a:prstGeom prst="rect">
            <a:avLst/>
          </a:prstGeom>
          <a:noFill/>
        </p:spPr>
        <p:txBody>
          <a:bodyPr wrap="square">
            <a:spAutoFit/>
          </a:bodyPr>
          <a:lstStyle/>
          <a:p>
            <a:pPr>
              <a:lnSpc>
                <a:spcPct val="105000"/>
              </a:lnSpc>
              <a:spcBef>
                <a:spcPts val="0"/>
              </a:spcBef>
              <a:spcAft>
                <a:spcPts val="900"/>
              </a:spcAft>
            </a:pPr>
            <a:r>
              <a:rPr sz="1150" b="1">
                <a:solidFill>
                  <a:srgbClr val="67269C"/>
                </a:solidFill>
                <a:latin typeface="Arial"/>
              </a:rPr>
              <a:t>›  </a:t>
            </a:r>
            <a:r>
              <a:rPr sz="1150" b="1">
                <a:solidFill>
                  <a:srgbClr val="20142A"/>
                </a:solidFill>
                <a:latin typeface="Arial"/>
              </a:rPr>
              <a:t>Cheap &amp; fast</a:t>
            </a:r>
            <a:r>
              <a:rPr sz="1150" b="0">
                <a:solidFill>
                  <a:srgbClr val="6B5E78"/>
                </a:solidFill>
                <a:latin typeface="Arial"/>
              </a:rPr>
              <a:t>  routing uses Haiku, not the answer model.</a:t>
            </a:r>
          </a:p>
          <a:p>
            <a:pPr>
              <a:lnSpc>
                <a:spcPct val="105000"/>
              </a:lnSpc>
              <a:spcBef>
                <a:spcPts val="0"/>
              </a:spcBef>
              <a:spcAft>
                <a:spcPts val="900"/>
              </a:spcAft>
            </a:pPr>
            <a:r>
              <a:rPr sz="1150" b="1">
                <a:solidFill>
                  <a:srgbClr val="67269C"/>
                </a:solidFill>
                <a:latin typeface="Arial"/>
              </a:rPr>
              <a:t>›  </a:t>
            </a:r>
            <a:r>
              <a:rPr sz="1150" b="1">
                <a:solidFill>
                  <a:srgbClr val="20142A"/>
                </a:solidFill>
                <a:latin typeface="Arial"/>
              </a:rPr>
              <a:t>Bounded context</a:t>
            </a:r>
            <a:r>
              <a:rPr sz="1150" b="0">
                <a:solidFill>
                  <a:srgbClr val="6B5E78"/>
                </a:solidFill>
                <a:latin typeface="Arial"/>
              </a:rPr>
              <a:t>  only top-k load — cost stays flat as the wiki grows.</a:t>
            </a:r>
          </a:p>
          <a:p>
            <a:pPr>
              <a:lnSpc>
                <a:spcPct val="105000"/>
              </a:lnSpc>
              <a:spcBef>
                <a:spcPts val="0"/>
              </a:spcBef>
              <a:spcAft>
                <a:spcPts val="900"/>
              </a:spcAft>
            </a:pPr>
            <a:r>
              <a:rPr sz="1150" b="1">
                <a:solidFill>
                  <a:srgbClr val="67269C"/>
                </a:solidFill>
                <a:latin typeface="Arial"/>
              </a:rPr>
              <a:t>›  </a:t>
            </a:r>
            <a:r>
              <a:rPr sz="1150" b="1">
                <a:solidFill>
                  <a:srgbClr val="20142A"/>
                </a:solidFill>
                <a:latin typeface="Arial"/>
              </a:rPr>
              <a:t>No vector DB / embeddings</a:t>
            </a:r>
            <a:r>
              <a:rPr sz="1150" b="0">
                <a:solidFill>
                  <a:srgbClr val="6B5E78"/>
                </a:solidFill>
                <a:latin typeface="Arial"/>
              </a:rPr>
              <a:t>  ranks the wiki's own catalog — zero extra infra.</a:t>
            </a:r>
          </a:p>
          <a:p>
            <a:pPr>
              <a:lnSpc>
                <a:spcPct val="105000"/>
              </a:lnSpc>
              <a:spcBef>
                <a:spcPts val="0"/>
              </a:spcBef>
              <a:spcAft>
                <a:spcPts val="900"/>
              </a:spcAft>
            </a:pPr>
            <a:r>
              <a:rPr sz="1150" b="1">
                <a:solidFill>
                  <a:srgbClr val="67269C"/>
                </a:solidFill>
                <a:latin typeface="Arial"/>
              </a:rPr>
              <a:t>›  </a:t>
            </a:r>
            <a:r>
              <a:rPr sz="1150" b="1">
                <a:solidFill>
                  <a:srgbClr val="20142A"/>
                </a:solidFill>
                <a:latin typeface="Arial"/>
              </a:rPr>
              <a:t>Permission-aware</a:t>
            </a:r>
            <a:r>
              <a:rPr sz="1150" b="0">
                <a:solidFill>
                  <a:srgbClr val="6B5E78"/>
                </a:solidFill>
                <a:latin typeface="Arial"/>
              </a:rPr>
              <a:t>  unauthorised pages never enter the catalog.</a:t>
            </a:r>
          </a:p>
        </p:txBody>
      </p:sp>
      <p:sp>
        <p:nvSpPr>
          <p:cNvPr id="14" name="Rounded Rectangle 13"/>
          <p:cNvSpPr/>
          <p:nvPr/>
        </p:nvSpPr>
        <p:spPr>
          <a:xfrm>
            <a:off x="548640" y="5623560"/>
            <a:ext cx="11091672" cy="777240"/>
          </a:xfrm>
          <a:prstGeom prst="roundRect">
            <a:avLst/>
          </a:prstGeom>
          <a:solidFill>
            <a:srgbClr val="290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623560"/>
            <a:ext cx="11091672" cy="777240"/>
          </a:xfrm>
          <a:prstGeom prst="rect">
            <a:avLst/>
          </a:prstGeom>
          <a:noFill/>
        </p:spPr>
        <p:txBody>
          <a:bodyPr wrap="square" anchor="ctr">
            <a:spAutoFit/>
          </a:bodyPr>
          <a:lstStyle/>
          <a:p>
            <a:pPr algn="ctr">
              <a:lnSpc>
                <a:spcPct val="100000"/>
              </a:lnSpc>
              <a:spcBef>
                <a:spcPts val="0"/>
              </a:spcBef>
              <a:spcAft>
                <a:spcPts val="0"/>
              </a:spcAft>
            </a:pPr>
            <a:r>
              <a:rPr sz="1200" b="0" i="0">
                <a:solidFill>
                  <a:srgbClr val="FFFFFF"/>
                </a:solidFill>
                <a:latin typeface="Arial"/>
              </a:rPr>
              <a:t>Powers the </a:t>
            </a:r>
            <a:r>
              <a:rPr sz="1200" b="1" i="0">
                <a:solidFill>
                  <a:srgbClr val="F97015"/>
                </a:solidFill>
                <a:latin typeface="Arial"/>
              </a:rPr>
              <a:t>Query</a:t>
            </a:r>
            <a:r>
              <a:rPr sz="1200" b="0" i="0">
                <a:solidFill>
                  <a:srgbClr val="FFFFFF"/>
                </a:solidFill>
                <a:latin typeface="Arial"/>
              </a:rPr>
              <a:t> operation — and the </a:t>
            </a:r>
            <a:r>
              <a:rPr sz="1200" b="1" i="0">
                <a:solidFill>
                  <a:srgbClr val="F97015"/>
                </a:solidFill>
                <a:latin typeface="Arial"/>
              </a:rPr>
              <a:t>C1r / C2</a:t>
            </a:r>
            <a:r>
              <a:rPr sz="1200" b="0" i="0">
                <a:solidFill>
                  <a:srgbClr val="FFFFFF"/>
                </a:solidFill>
                <a:latin typeface="Arial"/>
              </a:rPr>
              <a:t> retrieval conditions in the eval (same mechanism: raw chunks vs wiki pages).    Model: claude-haiku-4-5 · k ≤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66928"/>
            <a:ext cx="310896" cy="310896"/>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 y="502920"/>
            <a:ext cx="10058400" cy="457200"/>
          </a:xfrm>
          <a:prstGeom prst="rect">
            <a:avLst/>
          </a:prstGeom>
          <a:noFill/>
        </p:spPr>
        <p:txBody>
          <a:bodyPr wrap="square" anchor="t">
            <a:spAutoFit/>
          </a:bodyPr>
          <a:lstStyle/>
          <a:p>
            <a:pPr algn="l">
              <a:lnSpc>
                <a:spcPct val="100000"/>
              </a:lnSpc>
              <a:spcBef>
                <a:spcPts val="0"/>
              </a:spcBef>
              <a:spcAft>
                <a:spcPts val="0"/>
              </a:spcAft>
            </a:pPr>
            <a:r>
              <a:rPr sz="1250" b="1" i="0">
                <a:solidFill>
                  <a:srgbClr val="F97015"/>
                </a:solidFill>
                <a:latin typeface="Arial"/>
              </a:rPr>
              <a:t>APPENDIX  ·  BACKUP SLIDE</a:t>
            </a:r>
          </a:p>
        </p:txBody>
      </p:sp>
      <p:sp>
        <p:nvSpPr>
          <p:cNvPr id="4" name="TextBox 3"/>
          <p:cNvSpPr txBox="1"/>
          <p:nvPr/>
        </p:nvSpPr>
        <p:spPr>
          <a:xfrm>
            <a:off x="530352" y="868680"/>
            <a:ext cx="10789920" cy="914400"/>
          </a:xfrm>
          <a:prstGeom prst="rect">
            <a:avLst/>
          </a:prstGeom>
          <a:noFill/>
        </p:spPr>
        <p:txBody>
          <a:bodyPr wrap="square" anchor="t">
            <a:spAutoFit/>
          </a:bodyPr>
          <a:lstStyle/>
          <a:p>
            <a:pPr algn="l">
              <a:lnSpc>
                <a:spcPct val="100000"/>
              </a:lnSpc>
              <a:spcBef>
                <a:spcPts val="0"/>
              </a:spcBef>
              <a:spcAft>
                <a:spcPts val="0"/>
              </a:spcAft>
            </a:pPr>
            <a:r>
              <a:rPr sz="3000" b="1" i="0">
                <a:solidFill>
                  <a:srgbClr val="20142A"/>
                </a:solidFill>
                <a:latin typeface="Arial"/>
              </a:rPr>
              <a:t>Deployment — current setup</a:t>
            </a:r>
          </a:p>
        </p:txBody>
      </p:sp>
      <p:sp>
        <p:nvSpPr>
          <p:cNvPr id="5" name="Rectangle 4"/>
          <p:cNvSpPr/>
          <p:nvPr/>
        </p:nvSpPr>
        <p:spPr>
          <a:xfrm>
            <a:off x="548640" y="1481328"/>
            <a:ext cx="2834640" cy="41148"/>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11091672" cy="502920"/>
          </a:xfrm>
          <a:prstGeom prst="rect">
            <a:avLst/>
          </a:prstGeom>
          <a:noFill/>
        </p:spPr>
        <p:txBody>
          <a:bodyPr wrap="square" anchor="t">
            <a:spAutoFit/>
          </a:bodyPr>
          <a:lstStyle/>
          <a:p>
            <a:pPr algn="l">
              <a:lnSpc>
                <a:spcPct val="105000"/>
              </a:lnSpc>
              <a:spcBef>
                <a:spcPts val="0"/>
              </a:spcBef>
              <a:spcAft>
                <a:spcPts val="0"/>
              </a:spcAft>
            </a:pPr>
            <a:r>
              <a:rPr sz="1250" b="0" i="0">
                <a:solidFill>
                  <a:srgbClr val="20142A"/>
                </a:solidFill>
                <a:latin typeface="Arial"/>
              </a:rPr>
              <a:t>Today it runs </a:t>
            </a:r>
            <a:r>
              <a:rPr sz="1250" b="1" i="0">
                <a:solidFill>
                  <a:srgbClr val="F97015"/>
                </a:solidFill>
                <a:latin typeface="Arial"/>
              </a:rPr>
              <a:t>locally</a:t>
            </a:r>
            <a:r>
              <a:rPr sz="1250" b="0" i="0">
                <a:solidFill>
                  <a:srgbClr val="20142A"/>
                </a:solidFill>
                <a:latin typeface="Arial"/>
              </a:rPr>
              <a:t> — a development setup on one machine. No hosted server, no database, no container yet.</a:t>
            </a:r>
          </a:p>
        </p:txBody>
      </p:sp>
      <p:sp>
        <p:nvSpPr>
          <p:cNvPr id="7" name="Rounded Rectangle 6"/>
          <p:cNvSpPr/>
          <p:nvPr/>
        </p:nvSpPr>
        <p:spPr>
          <a:xfrm>
            <a:off x="548640" y="2377440"/>
            <a:ext cx="5486400" cy="2697480"/>
          </a:xfrm>
          <a:prstGeom prst="roundRect">
            <a:avLst/>
          </a:prstGeom>
          <a:solidFill>
            <a:srgbClr val="F3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377440"/>
            <a:ext cx="109728" cy="2697480"/>
          </a:xfrm>
          <a:prstGeom prst="rect">
            <a:avLst/>
          </a:prstGeom>
          <a:solidFill>
            <a:srgbClr val="F97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87168"/>
            <a:ext cx="5029200" cy="320040"/>
          </a:xfrm>
          <a:prstGeom prst="rect">
            <a:avLst/>
          </a:prstGeom>
          <a:noFill/>
        </p:spPr>
        <p:txBody>
          <a:bodyPr wrap="square" anchor="t">
            <a:spAutoFit/>
          </a:bodyPr>
          <a:lstStyle/>
          <a:p>
            <a:pPr algn="l">
              <a:lnSpc>
                <a:spcPct val="100000"/>
              </a:lnSpc>
              <a:spcBef>
                <a:spcPts val="0"/>
              </a:spcBef>
              <a:spcAft>
                <a:spcPts val="0"/>
              </a:spcAft>
            </a:pPr>
            <a:r>
              <a:rPr sz="1300" b="1" i="0">
                <a:solidFill>
                  <a:srgbClr val="F97015"/>
                </a:solidFill>
                <a:latin typeface="Arial"/>
              </a:rPr>
              <a:t>Runs locally now</a:t>
            </a:r>
          </a:p>
        </p:txBody>
      </p:sp>
      <p:sp>
        <p:nvSpPr>
          <p:cNvPr id="10" name="TextBox 9"/>
          <p:cNvSpPr txBox="1"/>
          <p:nvPr/>
        </p:nvSpPr>
        <p:spPr>
          <a:xfrm>
            <a:off x="868680" y="2907792"/>
            <a:ext cx="5029200" cy="4572000"/>
          </a:xfrm>
          <a:prstGeom prst="rect">
            <a:avLst/>
          </a:prstGeom>
          <a:noFill/>
        </p:spPr>
        <p:txBody>
          <a:bodyPr wrap="square">
            <a:spAutoFit/>
          </a:bodyPr>
          <a:lstStyle/>
          <a:p>
            <a:pPr>
              <a:lnSpc>
                <a:spcPct val="105000"/>
              </a:lnSpc>
              <a:spcBef>
                <a:spcPts val="0"/>
              </a:spcBef>
              <a:spcAft>
                <a:spcPts val="1200"/>
              </a:spcAft>
            </a:pPr>
            <a:r>
              <a:rPr sz="1250" b="1">
                <a:solidFill>
                  <a:srgbClr val="F97015"/>
                </a:solidFill>
                <a:latin typeface="Arial"/>
              </a:rPr>
              <a:t>—  </a:t>
            </a:r>
            <a:r>
              <a:rPr sz="1250" b="1">
                <a:solidFill>
                  <a:srgbClr val="20142A"/>
                </a:solidFill>
                <a:latin typeface="Arial"/>
              </a:rPr>
              <a:t>Backend</a:t>
            </a:r>
            <a:r>
              <a:rPr sz="1250" b="0">
                <a:solidFill>
                  <a:srgbClr val="6B5E78"/>
                </a:solidFill>
                <a:latin typeface="Arial"/>
              </a:rPr>
              <a:t>  FastAPI + Uvicorn on localhost · Claude via key in .env</a:t>
            </a:r>
          </a:p>
          <a:p>
            <a:pPr>
              <a:lnSpc>
                <a:spcPct val="105000"/>
              </a:lnSpc>
              <a:spcBef>
                <a:spcPts val="0"/>
              </a:spcBef>
              <a:spcAft>
                <a:spcPts val="1200"/>
              </a:spcAft>
            </a:pPr>
            <a:r>
              <a:rPr sz="1250" b="1">
                <a:solidFill>
                  <a:srgbClr val="F97015"/>
                </a:solidFill>
                <a:latin typeface="Arial"/>
              </a:rPr>
              <a:t>—  </a:t>
            </a:r>
            <a:r>
              <a:rPr sz="1250" b="1">
                <a:solidFill>
                  <a:srgbClr val="20142A"/>
                </a:solidFill>
                <a:latin typeface="Arial"/>
              </a:rPr>
              <a:t>Frontend</a:t>
            </a:r>
            <a:r>
              <a:rPr sz="1250" b="0">
                <a:solidFill>
                  <a:srgbClr val="6B5E78"/>
                </a:solidFill>
                <a:latin typeface="Arial"/>
              </a:rPr>
              <a:t>  React + Vite dev server (localhost)</a:t>
            </a:r>
          </a:p>
          <a:p>
            <a:pPr>
              <a:lnSpc>
                <a:spcPct val="105000"/>
              </a:lnSpc>
              <a:spcBef>
                <a:spcPts val="0"/>
              </a:spcBef>
              <a:spcAft>
                <a:spcPts val="1200"/>
              </a:spcAft>
            </a:pPr>
            <a:r>
              <a:rPr sz="1250" b="1">
                <a:solidFill>
                  <a:srgbClr val="F97015"/>
                </a:solidFill>
                <a:latin typeface="Arial"/>
              </a:rPr>
              <a:t>—  </a:t>
            </a:r>
            <a:r>
              <a:rPr sz="1250" b="1">
                <a:solidFill>
                  <a:srgbClr val="20142A"/>
                </a:solidFill>
                <a:latin typeface="Arial"/>
              </a:rPr>
              <a:t>Storage</a:t>
            </a:r>
            <a:r>
              <a:rPr sz="1250" b="0">
                <a:solidFill>
                  <a:srgbClr val="6B5E78"/>
                </a:solidFill>
                <a:latin typeface="Arial"/>
              </a:rPr>
              <a:t>  plain Markdown in /sources &amp; /wiki · git-versioned · no DB</a:t>
            </a:r>
          </a:p>
        </p:txBody>
      </p:sp>
      <p:sp>
        <p:nvSpPr>
          <p:cNvPr id="11" name="Rounded Rectangle 10"/>
          <p:cNvSpPr/>
          <p:nvPr/>
        </p:nvSpPr>
        <p:spPr>
          <a:xfrm>
            <a:off x="6263640" y="2377440"/>
            <a:ext cx="5376672" cy="2697480"/>
          </a:xfrm>
          <a:prstGeom prst="roundRect">
            <a:avLst/>
          </a:prstGeom>
          <a:solidFill>
            <a:srgbClr val="FFFFFF"/>
          </a:solidFill>
          <a:ln w="19050">
            <a:solidFill>
              <a:srgbClr val="EADF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487168"/>
            <a:ext cx="4937760" cy="320040"/>
          </a:xfrm>
          <a:prstGeom prst="rect">
            <a:avLst/>
          </a:prstGeom>
          <a:noFill/>
        </p:spPr>
        <p:txBody>
          <a:bodyPr wrap="square" anchor="t">
            <a:spAutoFit/>
          </a:bodyPr>
          <a:lstStyle/>
          <a:p>
            <a:pPr algn="l">
              <a:lnSpc>
                <a:spcPct val="100000"/>
              </a:lnSpc>
              <a:spcBef>
                <a:spcPts val="0"/>
              </a:spcBef>
              <a:spcAft>
                <a:spcPts val="0"/>
              </a:spcAft>
            </a:pPr>
            <a:r>
              <a:rPr sz="1300" b="1" i="0">
                <a:solidFill>
                  <a:srgbClr val="67269C"/>
                </a:solidFill>
                <a:latin typeface="Arial"/>
              </a:rPr>
              <a:t>Already git-native</a:t>
            </a:r>
          </a:p>
        </p:txBody>
      </p:sp>
      <p:sp>
        <p:nvSpPr>
          <p:cNvPr id="13" name="TextBox 12"/>
          <p:cNvSpPr txBox="1"/>
          <p:nvPr/>
        </p:nvSpPr>
        <p:spPr>
          <a:xfrm>
            <a:off x="6537960" y="2907792"/>
            <a:ext cx="4892040" cy="4572000"/>
          </a:xfrm>
          <a:prstGeom prst="rect">
            <a:avLst/>
          </a:prstGeom>
          <a:noFill/>
        </p:spPr>
        <p:txBody>
          <a:bodyPr wrap="square">
            <a:spAutoFit/>
          </a:bodyPr>
          <a:lstStyle/>
          <a:p>
            <a:pPr>
              <a:lnSpc>
                <a:spcPct val="105000"/>
              </a:lnSpc>
              <a:spcBef>
                <a:spcPts val="0"/>
              </a:spcBef>
              <a:spcAft>
                <a:spcPts val="1200"/>
              </a:spcAft>
            </a:pPr>
            <a:r>
              <a:rPr sz="1250" b="1">
                <a:solidFill>
                  <a:srgbClr val="67269C"/>
                </a:solidFill>
                <a:latin typeface="Arial"/>
              </a:rPr>
              <a:t>›  </a:t>
            </a:r>
            <a:r>
              <a:rPr sz="1250" b="1">
                <a:solidFill>
                  <a:srgbClr val="20142A"/>
                </a:solidFill>
                <a:latin typeface="Arial"/>
              </a:rPr>
              <a:t>Markdown in git</a:t>
            </a:r>
            <a:r>
              <a:rPr sz="1250" b="0">
                <a:solidFill>
                  <a:srgbClr val="6B5E78"/>
                </a:solidFill>
                <a:latin typeface="Arial"/>
              </a:rPr>
              <a:t>  the whole wiki is text files → full history &amp; diffs</a:t>
            </a:r>
          </a:p>
          <a:p>
            <a:pPr>
              <a:lnSpc>
                <a:spcPct val="105000"/>
              </a:lnSpc>
              <a:spcBef>
                <a:spcPts val="0"/>
              </a:spcBef>
              <a:spcAft>
                <a:spcPts val="1200"/>
              </a:spcAft>
            </a:pPr>
            <a:r>
              <a:rPr sz="1250" b="1">
                <a:solidFill>
                  <a:srgbClr val="67269C"/>
                </a:solidFill>
                <a:latin typeface="Arial"/>
              </a:rPr>
              <a:t>›  </a:t>
            </a:r>
            <a:r>
              <a:rPr sz="1250" b="1">
                <a:solidFill>
                  <a:srgbClr val="20142A"/>
                </a:solidFill>
                <a:latin typeface="Arial"/>
              </a:rPr>
              <a:t>CI automation</a:t>
            </a:r>
            <a:r>
              <a:rPr sz="1250" b="0">
                <a:solidFill>
                  <a:srgbClr val="6B5E78"/>
                </a:solidFill>
                <a:latin typeface="Arial"/>
              </a:rPr>
              <a:t>  GitHub Actions ingest a PR's content &amp; log merges</a:t>
            </a:r>
          </a:p>
          <a:p>
            <a:pPr>
              <a:lnSpc>
                <a:spcPct val="105000"/>
              </a:lnSpc>
              <a:spcBef>
                <a:spcPts val="0"/>
              </a:spcBef>
              <a:spcAft>
                <a:spcPts val="1200"/>
              </a:spcAft>
            </a:pPr>
            <a:r>
              <a:rPr sz="1250" b="1">
                <a:solidFill>
                  <a:srgbClr val="67269C"/>
                </a:solidFill>
                <a:latin typeface="Arial"/>
              </a:rPr>
              <a:t>›  </a:t>
            </a:r>
            <a:r>
              <a:rPr sz="1250" b="1">
                <a:solidFill>
                  <a:srgbClr val="20142A"/>
                </a:solidFill>
                <a:latin typeface="Arial"/>
              </a:rPr>
              <a:t>Portable</a:t>
            </a:r>
            <a:r>
              <a:rPr sz="1250" b="0">
                <a:solidFill>
                  <a:srgbClr val="6B5E78"/>
                </a:solidFill>
                <a:latin typeface="Arial"/>
              </a:rPr>
              <a:t>  no DB or server state — just clone the repo</a:t>
            </a:r>
          </a:p>
        </p:txBody>
      </p:sp>
      <p:sp>
        <p:nvSpPr>
          <p:cNvPr id="14" name="Rounded Rectangle 13"/>
          <p:cNvSpPr/>
          <p:nvPr/>
        </p:nvSpPr>
        <p:spPr>
          <a:xfrm>
            <a:off x="548640" y="5212080"/>
            <a:ext cx="11091672" cy="868680"/>
          </a:xfrm>
          <a:prstGeom prst="roundRect">
            <a:avLst/>
          </a:prstGeom>
          <a:solidFill>
            <a:srgbClr val="290D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212080"/>
            <a:ext cx="11091672" cy="868680"/>
          </a:xfrm>
          <a:prstGeom prst="rect">
            <a:avLst/>
          </a:prstGeom>
          <a:noFill/>
        </p:spPr>
        <p:txBody>
          <a:bodyPr wrap="square" anchor="ctr">
            <a:spAutoFit/>
          </a:bodyPr>
          <a:lstStyle/>
          <a:p>
            <a:pPr algn="ctr">
              <a:lnSpc>
                <a:spcPct val="100000"/>
              </a:lnSpc>
              <a:spcBef>
                <a:spcPts val="0"/>
              </a:spcBef>
              <a:spcAft>
                <a:spcPts val="0"/>
              </a:spcAft>
            </a:pPr>
            <a:r>
              <a:rPr sz="1250" b="1" i="0">
                <a:solidFill>
                  <a:srgbClr val="F97015"/>
                </a:solidFill>
                <a:latin typeface="Arial"/>
              </a:rPr>
              <a:t>Path to production:   </a:t>
            </a:r>
            <a:r>
              <a:rPr sz="1250" b="0" i="0">
                <a:solidFill>
                  <a:srgbClr val="FFFFFF"/>
                </a:solidFill>
                <a:latin typeface="Arial"/>
              </a:rPr>
              <a:t>containerise the backend  ·  host the static frontend  ·  managed secret for the API key  ·  auth + 2FA (future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